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b6e25e-0ebd-f07c-4198-394e01276884}">
          <p14:sldIdLst>
            <p14:sldId id="256"/>
            <p14:sldId id="257"/>
            <p14:sldId id="258"/>
          </p14:sldIdLst>
        </p14:section>
        <p14:section name="Algorithmic Audit" id="{64cf177c-0e9c-10b0-1783-accabfa72288}">
          <p14:sldIdLst>
            <p14:sldId id="259"/>
            <p14:sldId id="260"/>
          </p14:sldIdLst>
        </p14:section>
        <p14:section name="Bias Analysis" id="{5bc64472-d526-a594-955f-306a2e4bf0bc}">
          <p14:sldIdLst>
            <p14:sldId id="261"/>
            <p14:sldId id="262"/>
          </p14:sldIdLst>
        </p14:section>
        <p14:section name="Audit Findings" id="{bdab0d71-2c45-9c33-6c4f-71a16ec400ae}">
          <p14:sldIdLst>
            <p14:sldId id="263"/>
          </p14:sldIdLst>
        </p14:section>
        <p14:section name="Awareness Campaign" id="{793e56bd-ee29-cf9a-6d17-e733276dc88d}">
          <p14:sldIdLst>
            <p14:sldId id="264"/>
            <p14:sldId id="265"/>
          </p14:sldIdLst>
        </p14:section>
        <p14:section name="Conclusion" id="{b98836d2-5235-3754-b1af-c3139edc35f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Faheem Abdul]
Good morning everyone. I'm Faheem, and I'll start by explaining what algorithms are. Simply put, an algorithm is a set of step-by-step instructions that a computer follows to solve a problem or make a decision. Think of it as a recipe — but instead of cooking food, it processes data.
Algorithms are everywhere in our daily lives. When you search something on Google, an algorithm decides which results to show you first. When Amazon recommends products, that's an algorithm analyzing your past purchases. Spotify creates personalized playlists using algorithms that learn your music taste. And most importantly for our project — social media platforms use algorithms to decide what appears in your news feed.
These algorithms process billions of data points every second, shaping what information we consume without us even realizing it. In fact, platforms like Facebook make over 35,000 algorithmic decisions per second. Let me now explain why we chose to focus specifically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Faheem Abdul]
So why did we choose to focus on the social media news feed algorithm? The numbers speak for themselves. Instagram has over 2 billion monthly active users, and Facebook has nearly 3 billion. The average person spends about 2 and a half hours daily on social media.
That means these algorithms are influencing what billions of people see, read, and believe every single day. Unlike a search engine where you actively look for information, social media feeds are passively consumed — the algorithm decides what you see without you asking.
This makes it particularly powerful and potentially dangerous when it comes to bias. The news feed algorithm doesn't just show you everything your friends post. It curates, filters, and prioritizes content based on what it thinks will keep you engaged the longest. And as we'll see, that design choice has significant consequences for all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Purnachandra Rao Birkur]
Thank you, Faheem. I'm Purnachandra, and I'll explain how the news feed algorithm actually works. The process has four main stages.
First is Data Collection — the algorithm gathers signals from your behavior: what you like, share, comment on, how long you watch a video, and even what you scroll past quickly.
Second is Content Ranking — each piece of content gets a relevance score based on hundreds of factors. Posts from close friends, viral content, and topics you've shown interest in all score higher.
Third, the algorithm predicts engagement — it estimates the probability that you'll interact with each post. Will you like it? Comment on it? Share it? Watch the full video?
And finally, it personalizes and delivers your feed, putting the highest-scoring content at the top. The crucial thing to understand is that this system is designed with one primary goal: to maximize your time on the platform. It's not designed to inform you or show you diverse perspectives — it's designed to keep you scrolling.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Purnachandra Rao Birkur]
Now let's look at what data these algorithms actually collect. The scale is staggering.
First, Behavioral Data — every tap, swipe, like, share, and comment is recorded. The algorithm even tracks how long you pause on a post before scrolling past it.
Then Demographic Data — your age, gender, location, language, and education level are all part of your digital profile.
Third, Social Graph data maps who you're connected to, who you interact with most, and which groups you belong to.
And finally, Content Analysis — the algorithm uses AI to analyze the actual content of posts, including images, text, and hashtags.
All of this data trains machine learning models that predict your preferences. The critical concern is highlighted on the right: training data reflects existing societal patterns and prejudices. If the historical data contains biases — whether racial, gender, or political — the algorithm learns and amplifies those biases at a massive scale. This is the fundamental problem at the heart of algorithmic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Pranith Kasireddy]
Thank you, Purnachandra. I'm Pranith, and I'll discuss the specific types of bias we identified in news feed algorithms.
The first is the Filter Bubble — the algorithm shows you content similar to what you've already engaged with, creating an information bubble where you only see viewpoints that confirm your existing beliefs. You might think you're getting a balanced view of the world, but you're actually seeing a carefully curated echo chamber.
The second type is Engagement Bias — the algorithm prioritizes content that generates strong emotional reactions. Research consistently shows that outrage, fear, and anger drive more engagement than balanced, nuanced content. This means sensational and polarizing content gets boosted while thoughtful, moderate content gets buried.
The third type is Representation Bias — the training data often underrepresents certain demographics, leading to unequal visibility. Content from minority communities may be suppressed or flagged at higher rates, while mainstream content gets amplified.
These three biases work together to create a distorted view of reality for every user on these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Pranith Kasireddy]
Let me show you the real-world impact of these biases with some striking numbers.
64 percent — that's the proportion of people who joined extremist groups on Facebook and were led there by the platform's own recommendation algorithm. The filter bubble doesn't just limit your perspective — it can actively push people toward radical viewpoints.
False news spreads six times faster than true news on social media. MIT researchers found that algorithms amplify sensational content because it generates more engagement, regardless of whether it's accurate.
On mental health, Facebook's own internal research — leaked as part of the Facebook Files — found that Instagram's algorithm tends to push content that worsens body image issues, especially among teenage girls.
Political polarization is another major concern. People on opposite sides of issues literally see different realities in their feeds. And algorithmic amplification of sensational content degrades the overall quality of public discourse.
These aren't abstract concerns — they affect real people's beliefs, mental health, and social interactions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Abdul Rahbar Mohammed]
I'm Abdul Rahbar, and I'll present the findings from our algorithmic audit. We analyzed our own social media feeds over a two-week period and compared our observations with published research.
Finding one: Content Homogeneity. After engaging with certain types of content consistently, our feeds became increasingly one-dimensional. Within just three days, over 70 percent of our feed content was related to that single topic. The algorithm created a narrow information tunnel.
Finding two: Emotional Amplification. Posts with negative or outrage-inducing content appeared roughly three times more frequently than positive or neutral content. The algorithm clearly favors emotional reactions over balanced information.
Finding three: Demographic Imbalance. Content creators from certain backgrounds received disproportionately higher visibility compared to others producing similar quality content.
And finding four: a complete Lack of Transparency. At no point did any platform explain why specific content was shown to us, and there was no meaningful user control over the ranking process.
These findings align closely with broader academic research on algorithmic bias, confirming that the issues are real and affect everyday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Abdul Rahbar Mohammed]
Based on our audit findings, we developed a three-pillar awareness campaign strategy.
The first pillar is Educate. We aim to help our peers understand how these algorithms actually work. Most people don't realize their feed is algorithmically curated — they think they're seeing everything their friends post. Our campaign materials break down the algorithm into simple, visual, understandable concepts.
The second pillar is Expose. We highlight specific examples of algorithmic bias with real data and case studies. We've designed infographics that show how the same platform displays completely different content to different users based on their engagement profiles. Seeing is believing.
The third pillar is Empower. Knowledge without action isn't enough. We provide practical, actionable steps that everyone can take to reduce the impact of algorithmic bias. This includes diversifying who you follow, using chronological feeds when available, and regularly checking news sources outside social media.
Our campaign specifically targets university students through platforms they already use — Instagram stories, short-form videos, and shareable infographics that can spread organically.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Harish Pasupuleti]
Hello everyone, I'm Harish, and I'll walk you through our digital campaign artifacts.
We created three main pieces. First, our infographic titled "What Your Feed Isn't Showing You." It visually maps how the algorithm filters content and what gets hidden from your view. We designed it specifically for instant sharing on Instagram Stories and WhatsApp — the platforms our peers use most.
Second, we created an Instagram carousel post called "Break Your Bubble." It's a series of five swipeable cards that teach users concrete steps to diversify their feed. Each card focuses on one clear action with a simple, engaging visual. The carousel format works well because it encourages users to swipe through all five steps.
Third, and perhaps most engaging, we developed the "Algorithm Audit Challenge." We encourage peers to switch their feed to chronological order for one full week and document what changes they notice. The challenge format makes it participatory and gives people firsthand experience with just how much the algorithm shapes their information diet.
All materials use bold visuals and simple language to ensure maximum reach and understanding among university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Harish Pasupuleti]
I'd like to close our presentation with practical takeaways that all of us can implement starting today.
First, diversify your sources. Don't rely solely on social media for news. Follow accounts that offer different perspectives, not just those you agree with.
Second, check your settings. Most platforms now offer options to switch to chronological feeds or adjust content preferences. These tools exist — we just need to use them.
Third, engage mindfully. Remember that every like, share, and comment trains the algorithm. Be intentional about what content you interact with, because you're essentially programming your own feed.
Fourth, verify before sharing. Before you repost something, check if the information is accurate. Algorithmic bias means the most sensational, sometimes false, content reaches you first.
And finally, spread awareness. Share what you've learned today with your friends and family. The more people understand how algorithms work, the harder it becomes for biased systems to shape our information consumption unchecked.
Remember — your feed is not reality. It's a curated selection designed to keep you engaged. Always question it.
Thank you for your attention. We'd be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B1B2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LIDE">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6858000" cy="1828800"/>
          </a:xfrm>
          <a:prstGeom prst="rect">
            <a:avLst/>
          </a:prstGeom>
          <a:noFill/>
          <a:ln/>
        </p:spPr>
        <p:txBody>
          <a:bodyPr wrap="square" rtlCol="0" anchor="ctr"/>
          <a:lstStyle/>
          <a:p>
            <a:pPr algn="l" indent="0" marL="0">
              <a:lnSpc>
                <a:spcPct val="110000"/>
              </a:lnSpc>
              <a:buNone/>
            </a:pPr>
            <a:r>
              <a:rPr lang="en-US" sz="4200" b="1" dirty="0">
                <a:solidFill>
                  <a:srgbClr val="FFFFFF"/>
                </a:solidFill>
                <a:latin typeface="Cambria" pitchFamily="34" charset="0"/>
                <a:ea typeface="Cambria" pitchFamily="34" charset="-122"/>
                <a:cs typeface="Cambria" pitchFamily="34" charset="-120"/>
              </a:rPr>
              <a:t>Algorithmic Audit &amp;</a:t>
            </a:r>
            <a:endParaRPr lang="en-US" sz="4200" dirty="0"/>
          </a:p>
          <a:p>
            <a:pPr algn="l" indent="0" marL="0">
              <a:lnSpc>
                <a:spcPct val="110000"/>
              </a:lnSpc>
              <a:buNone/>
            </a:pPr>
            <a:r>
              <a:rPr lang="en-US" sz="4200" b="1" dirty="0">
                <a:solidFill>
                  <a:srgbClr val="FFFFFF"/>
                </a:solidFill>
                <a:latin typeface="Cambria" pitchFamily="34" charset="0"/>
                <a:ea typeface="Cambria" pitchFamily="34" charset="-122"/>
                <a:cs typeface="Cambria" pitchFamily="34" charset="-120"/>
              </a:rPr>
              <a:t>Awareness Campaign</a:t>
            </a:r>
            <a:endParaRPr lang="en-US" sz="4200" dirty="0"/>
          </a:p>
        </p:txBody>
      </p:sp>
      <p:sp>
        <p:nvSpPr>
          <p:cNvPr id="3" name="Text 1"/>
          <p:cNvSpPr txBox="1"/>
          <p:nvPr/>
        </p:nvSpPr>
        <p:spPr>
          <a:xfrm>
            <a:off x="731520" y="2743200"/>
            <a:ext cx="6858000" cy="457200"/>
          </a:xfrm>
          <a:prstGeom prst="rect">
            <a:avLst/>
          </a:prstGeom>
          <a:noFill/>
          <a:ln/>
        </p:spPr>
        <p:txBody>
          <a:bodyPr wrap="square" rtlCol="0" anchor="ctr"/>
          <a:lstStyle/>
          <a:p>
            <a:pPr algn="l" indent="0" marL="0">
              <a:buNone/>
            </a:pPr>
            <a:r>
              <a:rPr lang="en-US" sz="2000" b="1" dirty="0">
                <a:solidFill>
                  <a:srgbClr val="E63946"/>
                </a:solidFill>
                <a:latin typeface="Calibri" pitchFamily="34" charset="0"/>
                <a:ea typeface="Calibri" pitchFamily="34" charset="-122"/>
                <a:cs typeface="Calibri" pitchFamily="34" charset="-120"/>
              </a:rPr>
              <a:t>Social Media News Feed Algorithm</a:t>
            </a:r>
            <a:endParaRPr lang="en-US" sz="2000" dirty="0"/>
          </a:p>
        </p:txBody>
      </p:sp>
      <p:sp>
        <p:nvSpPr>
          <p:cNvPr id="4" name="Shape 2"/>
          <p:cNvSpPr/>
          <p:nvPr/>
        </p:nvSpPr>
        <p:spPr>
          <a:xfrm>
            <a:off x="731520" y="3383280"/>
            <a:ext cx="2286000" cy="36576"/>
          </a:xfrm>
          <a:prstGeom prst="rect">
            <a:avLst/>
          </a:prstGeom>
          <a:solidFill>
            <a:srgbClr val="E63946"/>
          </a:solidFill>
          <a:ln/>
        </p:spPr>
      </p:sp>
      <p:sp>
        <p:nvSpPr>
          <p:cNvPr id="5" name="Text 3"/>
          <p:cNvSpPr txBox="1"/>
          <p:nvPr/>
        </p:nvSpPr>
        <p:spPr>
          <a:xfrm>
            <a:off x="731520" y="3611880"/>
            <a:ext cx="7315200" cy="731520"/>
          </a:xfrm>
          <a:prstGeom prst="rect">
            <a:avLst/>
          </a:prstGeom>
          <a:noFill/>
          <a:ln/>
        </p:spPr>
        <p:txBody>
          <a:bodyPr wrap="square" rtlCol="0" anchor="ctr"/>
          <a:lstStyle/>
          <a:p>
            <a:pPr algn="l" indent="0" marL="0">
              <a:lnSpc>
                <a:spcPct val="150000"/>
              </a:lnSpc>
              <a:buNone/>
            </a:pPr>
            <a:r>
              <a:rPr lang="en-US" sz="1200" dirty="0">
                <a:solidFill>
                  <a:srgbClr val="AAAACC"/>
                </a:solidFill>
                <a:latin typeface="Calibri" pitchFamily="34" charset="0"/>
                <a:ea typeface="Calibri" pitchFamily="34" charset="-122"/>
                <a:cs typeface="Calibri" pitchFamily="34" charset="-120"/>
              </a:rPr>
              <a:t>Faheem Abdul  •  Purnachandra Rao Birkur  •  Pranith Kasireddy</a:t>
            </a:r>
            <a:endParaRPr lang="en-US" sz="1200" dirty="0"/>
          </a:p>
          <a:p>
            <a:pPr algn="l" indent="0" marL="0">
              <a:lnSpc>
                <a:spcPct val="150000"/>
              </a:lnSpc>
              <a:buNone/>
            </a:pPr>
            <a:r>
              <a:rPr lang="en-US" sz="1200" dirty="0">
                <a:solidFill>
                  <a:srgbClr val="AAAACC"/>
                </a:solidFill>
                <a:latin typeface="Calibri" pitchFamily="34" charset="0"/>
                <a:ea typeface="Calibri" pitchFamily="34" charset="-122"/>
                <a:cs typeface="Calibri" pitchFamily="34" charset="-120"/>
              </a:rPr>
              <a:t>Abdul Rahbar Mohammed  •  Harish Pasupuleti</a:t>
            </a:r>
            <a:endParaRPr lang="en-US" sz="1200" dirty="0"/>
          </a:p>
        </p:txBody>
      </p:sp>
      <p:sp>
        <p:nvSpPr>
          <p:cNvPr id="6" name="Shape 4"/>
          <p:cNvSpPr/>
          <p:nvPr/>
        </p:nvSpPr>
        <p:spPr>
          <a:xfrm>
            <a:off x="7315200" y="1097280"/>
            <a:ext cx="731520" cy="731520"/>
          </a:xfrm>
          <a:prstGeom prst="ellipse">
            <a:avLst/>
          </a:prstGeom>
          <a:solidFill>
            <a:srgbClr val="264653"/>
          </a:solidFill>
          <a:ln/>
        </p:spPr>
      </p:sp>
      <p:pic>
        <p:nvPicPr>
          <p:cNvPr id="7" name="Image 0" descr="preencoded.png">    </p:cNvPr>
          <p:cNvPicPr>
            <a:picLocks noChangeAspect="1"/>
          </p:cNvPicPr>
          <p:nvPr/>
        </p:nvPicPr>
        <p:blipFill>
          <a:blip r:embed="rId1"/>
          <a:stretch>
            <a:fillRect/>
          </a:stretch>
        </p:blipFill>
        <p:spPr>
          <a:xfrm>
            <a:off x="7498080" y="1280160"/>
            <a:ext cx="365760" cy="365760"/>
          </a:xfrm>
          <a:prstGeom prst="rect">
            <a:avLst/>
          </a:prstGeom>
        </p:spPr>
      </p:pic>
      <p:sp>
        <p:nvSpPr>
          <p:cNvPr id="8" name="Shape 5"/>
          <p:cNvSpPr/>
          <p:nvPr/>
        </p:nvSpPr>
        <p:spPr>
          <a:xfrm>
            <a:off x="7863840" y="2194560"/>
            <a:ext cx="594360" cy="594360"/>
          </a:xfrm>
          <a:prstGeom prst="ellipse">
            <a:avLst/>
          </a:prstGeom>
          <a:solidFill>
            <a:srgbClr val="E63946"/>
          </a:solidFill>
          <a:ln/>
        </p:spPr>
      </p:sp>
      <p:pic>
        <p:nvPicPr>
          <p:cNvPr id="9" name="Image 1" descr="preencoded.png">    </p:cNvPr>
          <p:cNvPicPr>
            <a:picLocks noChangeAspect="1"/>
          </p:cNvPicPr>
          <p:nvPr/>
        </p:nvPicPr>
        <p:blipFill>
          <a:blip r:embed="rId2"/>
          <a:stretch>
            <a:fillRect/>
          </a:stretch>
        </p:blipFill>
        <p:spPr>
          <a:xfrm>
            <a:off x="8012430" y="2343150"/>
            <a:ext cx="297180" cy="297180"/>
          </a:xfrm>
          <a:prstGeom prst="rect">
            <a:avLst/>
          </a:prstGeom>
        </p:spPr>
      </p:pic>
      <p:sp>
        <p:nvSpPr>
          <p:cNvPr id="10" name="Shape 6"/>
          <p:cNvSpPr/>
          <p:nvPr/>
        </p:nvSpPr>
        <p:spPr>
          <a:xfrm>
            <a:off x="7452360" y="3108960"/>
            <a:ext cx="502920" cy="502920"/>
          </a:xfrm>
          <a:prstGeom prst="ellipse">
            <a:avLst/>
          </a:prstGeom>
          <a:solidFill>
            <a:srgbClr val="2A9D8F"/>
          </a:solidFill>
          <a:ln/>
        </p:spPr>
      </p:sp>
      <p:pic>
        <p:nvPicPr>
          <p:cNvPr id="11" name="Image 2" descr="preencoded.png">    </p:cNvPr>
          <p:cNvPicPr>
            <a:picLocks noChangeAspect="1"/>
          </p:cNvPicPr>
          <p:nvPr/>
        </p:nvPicPr>
        <p:blipFill>
          <a:blip r:embed="rId3"/>
          <a:stretch>
            <a:fillRect/>
          </a:stretch>
        </p:blipFill>
        <p:spPr>
          <a:xfrm>
            <a:off x="7578090" y="3234690"/>
            <a:ext cx="251460" cy="251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What Are Algorithms?</a:t>
            </a:r>
            <a:endParaRPr lang="en-US" sz="3200" dirty="0"/>
          </a:p>
        </p:txBody>
      </p:sp>
      <p:sp>
        <p:nvSpPr>
          <p:cNvPr id="3" name="Shape 1"/>
          <p:cNvSpPr/>
          <p:nvPr/>
        </p:nvSpPr>
        <p:spPr>
          <a:xfrm>
            <a:off x="548640" y="1005840"/>
            <a:ext cx="3657600" cy="1737360"/>
          </a:xfrm>
          <a:prstGeom prst="roundRect">
            <a:avLst>
              <a:gd name="adj" fmla="val 7895"/>
            </a:avLst>
          </a:prstGeom>
          <a:solidFill>
            <a:srgbClr val="F0F0F5"/>
          </a:solidFill>
          <a:ln/>
          <a:effectLst>
            <a:outerShdw sx="100000" sy="100000" kx="0" ky="0" algn="bl" rotWithShape="0" blurRad="127000" dist="38100" dir="8100000">
              <a:srgbClr val="CCCCCC">
                <a:alpha val="30000"/>
              </a:srgbClr>
            </a:outerShdw>
          </a:effectLst>
        </p:spPr>
      </p:sp>
      <p:sp>
        <p:nvSpPr>
          <p:cNvPr id="4" name="Shape 2"/>
          <p:cNvSpPr/>
          <p:nvPr/>
        </p:nvSpPr>
        <p:spPr>
          <a:xfrm>
            <a:off x="777240" y="1143000"/>
            <a:ext cx="502920" cy="502920"/>
          </a:xfrm>
          <a:prstGeom prst="ellipse">
            <a:avLst/>
          </a:prstGeom>
          <a:solidFill>
            <a:srgbClr val="E63946"/>
          </a:solidFill>
          <a:ln/>
        </p:spPr>
      </p:sp>
      <p:pic>
        <p:nvPicPr>
          <p:cNvPr id="5" name="Image 0" descr="preencoded.png">    </p:cNvPr>
          <p:cNvPicPr>
            <a:picLocks noChangeAspect="1"/>
          </p:cNvPicPr>
          <p:nvPr/>
        </p:nvPicPr>
        <p:blipFill>
          <a:blip r:embed="rId1"/>
          <a:stretch>
            <a:fillRect/>
          </a:stretch>
        </p:blipFill>
        <p:spPr>
          <a:xfrm>
            <a:off x="902970" y="1268730"/>
            <a:ext cx="251460" cy="251460"/>
          </a:xfrm>
          <a:prstGeom prst="rect">
            <a:avLst/>
          </a:prstGeom>
        </p:spPr>
      </p:pic>
      <p:sp>
        <p:nvSpPr>
          <p:cNvPr id="6" name="Text 3"/>
          <p:cNvSpPr txBox="1"/>
          <p:nvPr/>
        </p:nvSpPr>
        <p:spPr>
          <a:xfrm>
            <a:off x="1417320" y="1143000"/>
            <a:ext cx="2606040" cy="1463040"/>
          </a:xfrm>
          <a:prstGeom prst="rect">
            <a:avLst/>
          </a:prstGeom>
          <a:noFill/>
          <a:ln/>
        </p:spPr>
        <p:txBody>
          <a:bodyPr wrap="square" lIns="0" tIns="0" rIns="0" bIns="0" rtlCol="0" anchor="t"/>
          <a:lstStyle/>
          <a:p>
            <a:pPr indent="0" marL="0">
              <a:lnSpc>
                <a:spcPct val="130000"/>
              </a:lnSpc>
              <a:buNone/>
            </a:pPr>
            <a:r>
              <a:rPr lang="en-US" sz="1600" b="1" dirty="0">
                <a:solidFill>
                  <a:srgbClr val="E63946"/>
                </a:solidFill>
                <a:latin typeface="Calibri" pitchFamily="34" charset="0"/>
                <a:ea typeface="Calibri" pitchFamily="34" charset="-122"/>
                <a:cs typeface="Calibri" pitchFamily="34" charset="-120"/>
              </a:rPr>
              <a:t>Definition</a:t>
            </a:r>
            <a:endParaRPr lang="en-US" sz="1600" dirty="0"/>
          </a:p>
          <a:p>
            <a:pPr indent="0" marL="0">
              <a:lnSpc>
                <a:spcPct val="130000"/>
              </a:lnSpc>
              <a:buNone/>
            </a:pPr>
            <a:r>
              <a:rPr lang="en-US" sz="1250" dirty="0">
                <a:solidFill>
                  <a:srgbClr val="4A4A6A"/>
                </a:solidFill>
                <a:latin typeface="Calibri" pitchFamily="34" charset="0"/>
                <a:ea typeface="Calibri" pitchFamily="34" charset="-122"/>
                <a:cs typeface="Calibri" pitchFamily="34" charset="-120"/>
              </a:rPr>
              <a:t>A set of step-by-step instructions that a computer follows to solve a problem or make a decision, processing vast amounts of data in milliseconds.</a:t>
            </a:r>
            <a:endParaRPr lang="en-US" sz="1600" dirty="0"/>
          </a:p>
        </p:txBody>
      </p:sp>
      <p:sp>
        <p:nvSpPr>
          <p:cNvPr id="7" name="Text 4"/>
          <p:cNvSpPr txBox="1"/>
          <p:nvPr/>
        </p:nvSpPr>
        <p:spPr>
          <a:xfrm>
            <a:off x="4663440" y="1005840"/>
            <a:ext cx="3931920" cy="320040"/>
          </a:xfrm>
          <a:prstGeom prst="rect">
            <a:avLst/>
          </a:prstGeom>
          <a:noFill/>
          <a:ln/>
        </p:spPr>
        <p:txBody>
          <a:bodyPr wrap="square" lIns="0" tIns="0" rIns="0" bIns="0" rtlCol="0" anchor="ctr"/>
          <a:lstStyle/>
          <a:p>
            <a:pPr indent="0" marL="0">
              <a:buNone/>
            </a:pPr>
            <a:r>
              <a:rPr lang="en-US" sz="1600" b="1" dirty="0">
                <a:solidFill>
                  <a:srgbClr val="1B1B2F"/>
                </a:solidFill>
                <a:latin typeface="Cambria" pitchFamily="34" charset="0"/>
                <a:ea typeface="Cambria" pitchFamily="34" charset="-122"/>
                <a:cs typeface="Cambria" pitchFamily="34" charset="-120"/>
              </a:rPr>
              <a:t>In Your Everyday Life</a:t>
            </a:r>
            <a:endParaRPr lang="en-US" sz="1600" dirty="0"/>
          </a:p>
        </p:txBody>
      </p:sp>
      <p:sp>
        <p:nvSpPr>
          <p:cNvPr id="8" name="Shape 5"/>
          <p:cNvSpPr/>
          <p:nvPr/>
        </p:nvSpPr>
        <p:spPr>
          <a:xfrm>
            <a:off x="4663440" y="1463040"/>
            <a:ext cx="1828800" cy="822960"/>
          </a:xfrm>
          <a:prstGeom prst="roundRect">
            <a:avLst>
              <a:gd name="adj" fmla="val 11111"/>
            </a:avLst>
          </a:prstGeom>
          <a:solidFill>
            <a:srgbClr val="F0F0F5"/>
          </a:solidFill>
          <a:ln/>
        </p:spPr>
      </p:sp>
      <p:sp>
        <p:nvSpPr>
          <p:cNvPr id="9" name="Shape 6"/>
          <p:cNvSpPr/>
          <p:nvPr/>
        </p:nvSpPr>
        <p:spPr>
          <a:xfrm>
            <a:off x="4773168" y="1600200"/>
            <a:ext cx="457200" cy="457200"/>
          </a:xfrm>
          <a:prstGeom prst="ellipse">
            <a:avLst/>
          </a:prstGeom>
          <a:solidFill>
            <a:srgbClr val="264653"/>
          </a:solidFill>
          <a:ln/>
        </p:spPr>
      </p:sp>
      <p:pic>
        <p:nvPicPr>
          <p:cNvPr id="10" name="Image 1" descr="preencoded.png">    </p:cNvPr>
          <p:cNvPicPr>
            <a:picLocks noChangeAspect="1"/>
          </p:cNvPicPr>
          <p:nvPr/>
        </p:nvPicPr>
        <p:blipFill>
          <a:blip r:embed="rId2"/>
          <a:stretch>
            <a:fillRect/>
          </a:stretch>
        </p:blipFill>
        <p:spPr>
          <a:xfrm>
            <a:off x="4887468" y="1714500"/>
            <a:ext cx="228600" cy="228600"/>
          </a:xfrm>
          <a:prstGeom prst="rect">
            <a:avLst/>
          </a:prstGeom>
        </p:spPr>
      </p:pic>
      <p:sp>
        <p:nvSpPr>
          <p:cNvPr id="11" name="Text 7"/>
          <p:cNvSpPr txBox="1"/>
          <p:nvPr/>
        </p:nvSpPr>
        <p:spPr>
          <a:xfrm>
            <a:off x="5303520" y="1554480"/>
            <a:ext cx="1051560" cy="640080"/>
          </a:xfrm>
          <a:prstGeom prst="rect">
            <a:avLst/>
          </a:prstGeom>
          <a:noFill/>
          <a:ln/>
        </p:spPr>
        <p:txBody>
          <a:bodyPr wrap="square" lIns="0" tIns="0" rIns="0" bIns="0" rtlCol="0" anchor="ctr"/>
          <a:lstStyle/>
          <a:p>
            <a:pPr indent="0" marL="0">
              <a:lnSpc>
                <a:spcPct val="120000"/>
              </a:lnSpc>
              <a:buNone/>
            </a:pPr>
            <a:r>
              <a:rPr lang="en-US" sz="1200" b="1" dirty="0">
                <a:solidFill>
                  <a:srgbClr val="1B1B2F"/>
                </a:solidFill>
                <a:latin typeface="Calibri" pitchFamily="34" charset="0"/>
                <a:ea typeface="Calibri" pitchFamily="34" charset="-122"/>
                <a:cs typeface="Calibri" pitchFamily="34" charset="-120"/>
              </a:rPr>
              <a:t>Google Search</a:t>
            </a:r>
            <a:endParaRPr lang="en-US" sz="1200" dirty="0"/>
          </a:p>
          <a:p>
            <a:pPr indent="0" marL="0">
              <a:lnSpc>
                <a:spcPct val="120000"/>
              </a:lnSpc>
              <a:buNone/>
            </a:pPr>
            <a:r>
              <a:rPr lang="en-US" sz="950" dirty="0">
                <a:solidFill>
                  <a:srgbClr val="4A4A6A"/>
                </a:solidFill>
                <a:latin typeface="Calibri" pitchFamily="34" charset="0"/>
                <a:ea typeface="Calibri" pitchFamily="34" charset="-122"/>
                <a:cs typeface="Calibri" pitchFamily="34" charset="-120"/>
              </a:rPr>
              <a:t>Ranks billions of pages</a:t>
            </a:r>
            <a:endParaRPr lang="en-US" sz="1200" dirty="0"/>
          </a:p>
        </p:txBody>
      </p:sp>
      <p:sp>
        <p:nvSpPr>
          <p:cNvPr id="12" name="Shape 8"/>
          <p:cNvSpPr/>
          <p:nvPr/>
        </p:nvSpPr>
        <p:spPr>
          <a:xfrm>
            <a:off x="6629400" y="1463040"/>
            <a:ext cx="1828800" cy="822960"/>
          </a:xfrm>
          <a:prstGeom prst="roundRect">
            <a:avLst>
              <a:gd name="adj" fmla="val 11111"/>
            </a:avLst>
          </a:prstGeom>
          <a:solidFill>
            <a:srgbClr val="F0F0F5"/>
          </a:solidFill>
          <a:ln/>
        </p:spPr>
      </p:sp>
      <p:sp>
        <p:nvSpPr>
          <p:cNvPr id="13" name="Shape 9"/>
          <p:cNvSpPr/>
          <p:nvPr/>
        </p:nvSpPr>
        <p:spPr>
          <a:xfrm>
            <a:off x="6739128" y="1600200"/>
            <a:ext cx="457200" cy="457200"/>
          </a:xfrm>
          <a:prstGeom prst="ellipse">
            <a:avLst/>
          </a:prstGeom>
          <a:solidFill>
            <a:srgbClr val="2A9D8F"/>
          </a:solidFill>
          <a:ln/>
        </p:spPr>
      </p:sp>
      <p:pic>
        <p:nvPicPr>
          <p:cNvPr id="14" name="Image 2" descr="preencoded.png">    </p:cNvPr>
          <p:cNvPicPr>
            <a:picLocks noChangeAspect="1"/>
          </p:cNvPicPr>
          <p:nvPr/>
        </p:nvPicPr>
        <p:blipFill>
          <a:blip r:embed="rId3"/>
          <a:stretch>
            <a:fillRect/>
          </a:stretch>
        </p:blipFill>
        <p:spPr>
          <a:xfrm>
            <a:off x="6853428" y="1714500"/>
            <a:ext cx="228600" cy="228600"/>
          </a:xfrm>
          <a:prstGeom prst="rect">
            <a:avLst/>
          </a:prstGeom>
        </p:spPr>
      </p:pic>
      <p:sp>
        <p:nvSpPr>
          <p:cNvPr id="15" name="Text 10"/>
          <p:cNvSpPr txBox="1"/>
          <p:nvPr/>
        </p:nvSpPr>
        <p:spPr>
          <a:xfrm>
            <a:off x="7269480" y="1554480"/>
            <a:ext cx="1051560" cy="640080"/>
          </a:xfrm>
          <a:prstGeom prst="rect">
            <a:avLst/>
          </a:prstGeom>
          <a:noFill/>
          <a:ln/>
        </p:spPr>
        <p:txBody>
          <a:bodyPr wrap="square" lIns="0" tIns="0" rIns="0" bIns="0" rtlCol="0" anchor="ctr"/>
          <a:lstStyle/>
          <a:p>
            <a:pPr indent="0" marL="0">
              <a:lnSpc>
                <a:spcPct val="120000"/>
              </a:lnSpc>
              <a:buNone/>
            </a:pPr>
            <a:r>
              <a:rPr lang="en-US" sz="1200" b="1" dirty="0">
                <a:solidFill>
                  <a:srgbClr val="1B1B2F"/>
                </a:solidFill>
                <a:latin typeface="Calibri" pitchFamily="34" charset="0"/>
                <a:ea typeface="Calibri" pitchFamily="34" charset="-122"/>
                <a:cs typeface="Calibri" pitchFamily="34" charset="-120"/>
              </a:rPr>
              <a:t>Amazon</a:t>
            </a:r>
            <a:endParaRPr lang="en-US" sz="1200" dirty="0"/>
          </a:p>
          <a:p>
            <a:pPr indent="0" marL="0">
              <a:lnSpc>
                <a:spcPct val="120000"/>
              </a:lnSpc>
              <a:buNone/>
            </a:pPr>
            <a:r>
              <a:rPr lang="en-US" sz="950" dirty="0">
                <a:solidFill>
                  <a:srgbClr val="4A4A6A"/>
                </a:solidFill>
                <a:latin typeface="Calibri" pitchFamily="34" charset="0"/>
                <a:ea typeface="Calibri" pitchFamily="34" charset="-122"/>
                <a:cs typeface="Calibri" pitchFamily="34" charset="-120"/>
              </a:rPr>
              <a:t>Recommends products</a:t>
            </a:r>
            <a:endParaRPr lang="en-US" sz="1200" dirty="0"/>
          </a:p>
        </p:txBody>
      </p:sp>
      <p:sp>
        <p:nvSpPr>
          <p:cNvPr id="16" name="Shape 11"/>
          <p:cNvSpPr/>
          <p:nvPr/>
        </p:nvSpPr>
        <p:spPr>
          <a:xfrm>
            <a:off x="4663440" y="2468880"/>
            <a:ext cx="1828800" cy="822960"/>
          </a:xfrm>
          <a:prstGeom prst="roundRect">
            <a:avLst>
              <a:gd name="adj" fmla="val 11111"/>
            </a:avLst>
          </a:prstGeom>
          <a:solidFill>
            <a:srgbClr val="F0F0F5"/>
          </a:solidFill>
          <a:ln/>
        </p:spPr>
      </p:sp>
      <p:sp>
        <p:nvSpPr>
          <p:cNvPr id="17" name="Shape 12"/>
          <p:cNvSpPr/>
          <p:nvPr/>
        </p:nvSpPr>
        <p:spPr>
          <a:xfrm>
            <a:off x="4773168" y="2606040"/>
            <a:ext cx="457200" cy="457200"/>
          </a:xfrm>
          <a:prstGeom prst="ellipse">
            <a:avLst/>
          </a:prstGeom>
          <a:solidFill>
            <a:srgbClr val="E63946"/>
          </a:solidFill>
          <a:ln/>
        </p:spPr>
      </p:sp>
      <p:pic>
        <p:nvPicPr>
          <p:cNvPr id="18" name="Image 3" descr="preencoded.png">    </p:cNvPr>
          <p:cNvPicPr>
            <a:picLocks noChangeAspect="1"/>
          </p:cNvPicPr>
          <p:nvPr/>
        </p:nvPicPr>
        <p:blipFill>
          <a:blip r:embed="rId4"/>
          <a:stretch>
            <a:fillRect/>
          </a:stretch>
        </p:blipFill>
        <p:spPr>
          <a:xfrm>
            <a:off x="4887468" y="2720340"/>
            <a:ext cx="228600" cy="228600"/>
          </a:xfrm>
          <a:prstGeom prst="rect">
            <a:avLst/>
          </a:prstGeom>
        </p:spPr>
      </p:pic>
      <p:sp>
        <p:nvSpPr>
          <p:cNvPr id="19" name="Text 13"/>
          <p:cNvSpPr txBox="1"/>
          <p:nvPr/>
        </p:nvSpPr>
        <p:spPr>
          <a:xfrm>
            <a:off x="5303520" y="2560320"/>
            <a:ext cx="1051560" cy="640080"/>
          </a:xfrm>
          <a:prstGeom prst="rect">
            <a:avLst/>
          </a:prstGeom>
          <a:noFill/>
          <a:ln/>
        </p:spPr>
        <p:txBody>
          <a:bodyPr wrap="square" lIns="0" tIns="0" rIns="0" bIns="0" rtlCol="0" anchor="ctr"/>
          <a:lstStyle/>
          <a:p>
            <a:pPr indent="0" marL="0">
              <a:lnSpc>
                <a:spcPct val="120000"/>
              </a:lnSpc>
              <a:buNone/>
            </a:pPr>
            <a:r>
              <a:rPr lang="en-US" sz="1200" b="1" dirty="0">
                <a:solidFill>
                  <a:srgbClr val="1B1B2F"/>
                </a:solidFill>
                <a:latin typeface="Calibri" pitchFamily="34" charset="0"/>
                <a:ea typeface="Calibri" pitchFamily="34" charset="-122"/>
                <a:cs typeface="Calibri" pitchFamily="34" charset="-120"/>
              </a:rPr>
              <a:t>Spotify</a:t>
            </a:r>
            <a:endParaRPr lang="en-US" sz="1200" dirty="0"/>
          </a:p>
          <a:p>
            <a:pPr indent="0" marL="0">
              <a:lnSpc>
                <a:spcPct val="120000"/>
              </a:lnSpc>
              <a:buNone/>
            </a:pPr>
            <a:r>
              <a:rPr lang="en-US" sz="950" dirty="0">
                <a:solidFill>
                  <a:srgbClr val="4A4A6A"/>
                </a:solidFill>
                <a:latin typeface="Calibri" pitchFamily="34" charset="0"/>
                <a:ea typeface="Calibri" pitchFamily="34" charset="-122"/>
                <a:cs typeface="Calibri" pitchFamily="34" charset="-120"/>
              </a:rPr>
              <a:t>Curates your playlists</a:t>
            </a:r>
            <a:endParaRPr lang="en-US" sz="1200" dirty="0"/>
          </a:p>
        </p:txBody>
      </p:sp>
      <p:sp>
        <p:nvSpPr>
          <p:cNvPr id="20" name="Shape 14"/>
          <p:cNvSpPr/>
          <p:nvPr/>
        </p:nvSpPr>
        <p:spPr>
          <a:xfrm>
            <a:off x="6629400" y="2468880"/>
            <a:ext cx="1828800" cy="822960"/>
          </a:xfrm>
          <a:prstGeom prst="roundRect">
            <a:avLst>
              <a:gd name="adj" fmla="val 11111"/>
            </a:avLst>
          </a:prstGeom>
          <a:solidFill>
            <a:srgbClr val="F0F0F5"/>
          </a:solidFill>
          <a:ln/>
        </p:spPr>
      </p:sp>
      <p:sp>
        <p:nvSpPr>
          <p:cNvPr id="21" name="Shape 15"/>
          <p:cNvSpPr/>
          <p:nvPr/>
        </p:nvSpPr>
        <p:spPr>
          <a:xfrm>
            <a:off x="6739128" y="2606040"/>
            <a:ext cx="457200" cy="457200"/>
          </a:xfrm>
          <a:prstGeom prst="ellipse">
            <a:avLst/>
          </a:prstGeom>
          <a:solidFill>
            <a:srgbClr val="264653"/>
          </a:solidFill>
          <a:ln/>
        </p:spPr>
      </p:sp>
      <p:pic>
        <p:nvPicPr>
          <p:cNvPr id="22" name="Image 4" descr="preencoded.png">    </p:cNvPr>
          <p:cNvPicPr>
            <a:picLocks noChangeAspect="1"/>
          </p:cNvPicPr>
          <p:nvPr/>
        </p:nvPicPr>
        <p:blipFill>
          <a:blip r:embed="rId5"/>
          <a:stretch>
            <a:fillRect/>
          </a:stretch>
        </p:blipFill>
        <p:spPr>
          <a:xfrm>
            <a:off x="6853428" y="2720340"/>
            <a:ext cx="228600" cy="228600"/>
          </a:xfrm>
          <a:prstGeom prst="rect">
            <a:avLst/>
          </a:prstGeom>
        </p:spPr>
      </p:pic>
      <p:sp>
        <p:nvSpPr>
          <p:cNvPr id="23" name="Text 16"/>
          <p:cNvSpPr txBox="1"/>
          <p:nvPr/>
        </p:nvSpPr>
        <p:spPr>
          <a:xfrm>
            <a:off x="7269480" y="2560320"/>
            <a:ext cx="1051560" cy="640080"/>
          </a:xfrm>
          <a:prstGeom prst="rect">
            <a:avLst/>
          </a:prstGeom>
          <a:noFill/>
          <a:ln/>
        </p:spPr>
        <p:txBody>
          <a:bodyPr wrap="square" lIns="0" tIns="0" rIns="0" bIns="0" rtlCol="0" anchor="ctr"/>
          <a:lstStyle/>
          <a:p>
            <a:pPr indent="0" marL="0">
              <a:lnSpc>
                <a:spcPct val="120000"/>
              </a:lnSpc>
              <a:buNone/>
            </a:pPr>
            <a:r>
              <a:rPr lang="en-US" sz="1200" b="1" dirty="0">
                <a:solidFill>
                  <a:srgbClr val="1B1B2F"/>
                </a:solidFill>
                <a:latin typeface="Calibri" pitchFamily="34" charset="0"/>
                <a:ea typeface="Calibri" pitchFamily="34" charset="-122"/>
                <a:cs typeface="Calibri" pitchFamily="34" charset="-120"/>
              </a:rPr>
              <a:t>News Feeds</a:t>
            </a:r>
            <a:endParaRPr lang="en-US" sz="1200" dirty="0"/>
          </a:p>
          <a:p>
            <a:pPr indent="0" marL="0">
              <a:lnSpc>
                <a:spcPct val="120000"/>
              </a:lnSpc>
              <a:buNone/>
            </a:pPr>
            <a:r>
              <a:rPr lang="en-US" sz="950" dirty="0">
                <a:solidFill>
                  <a:srgbClr val="4A4A6A"/>
                </a:solidFill>
                <a:latin typeface="Calibri" pitchFamily="34" charset="0"/>
                <a:ea typeface="Calibri" pitchFamily="34" charset="-122"/>
                <a:cs typeface="Calibri" pitchFamily="34" charset="-120"/>
              </a:rPr>
              <a:t>Filters what you see</a:t>
            </a:r>
            <a:endParaRPr lang="en-US" sz="1200" dirty="0"/>
          </a:p>
        </p:txBody>
      </p:sp>
      <p:sp>
        <p:nvSpPr>
          <p:cNvPr id="24" name="Text 17"/>
          <p:cNvSpPr txBox="1"/>
          <p:nvPr/>
        </p:nvSpPr>
        <p:spPr>
          <a:xfrm>
            <a:off x="548640" y="3931920"/>
            <a:ext cx="8046720" cy="365760"/>
          </a:xfrm>
          <a:prstGeom prst="rect">
            <a:avLst/>
          </a:prstGeom>
          <a:noFill/>
          <a:ln/>
        </p:spPr>
        <p:txBody>
          <a:bodyPr wrap="square" lIns="0" tIns="0" rIns="0" bIns="0" rtlCol="0" anchor="ctr"/>
          <a:lstStyle/>
          <a:p>
            <a:pPr algn="l" indent="0" marL="0">
              <a:buNone/>
            </a:pPr>
            <a:r>
              <a:rPr lang="en-US" sz="1400" dirty="0">
                <a:solidFill>
                  <a:srgbClr val="4A4A6A"/>
                </a:solidFill>
                <a:latin typeface="Calibri" pitchFamily="34" charset="0"/>
                <a:ea typeface="Calibri" pitchFamily="34" charset="-122"/>
                <a:cs typeface="Calibri" pitchFamily="34" charset="-120"/>
              </a:rPr>
              <a:t>Algorithms make over </a:t>
            </a:r>
            <a:pPr algn="l" indent="0" marL="0">
              <a:buNone/>
            </a:pPr>
            <a:r>
              <a:rPr lang="en-US" sz="1400" b="1" dirty="0">
                <a:solidFill>
                  <a:srgbClr val="E63946"/>
                </a:solidFill>
                <a:latin typeface="Calibri" pitchFamily="34" charset="0"/>
                <a:ea typeface="Calibri" pitchFamily="34" charset="-122"/>
                <a:cs typeface="Calibri" pitchFamily="34" charset="-120"/>
              </a:rPr>
              <a:t>35,000 decisions</a:t>
            </a:r>
            <a:pPr algn="l" indent="0" marL="0">
              <a:buNone/>
            </a:pPr>
            <a:r>
              <a:rPr lang="en-US" sz="1400" dirty="0">
                <a:solidFill>
                  <a:srgbClr val="4A4A6A"/>
                </a:solidFill>
                <a:latin typeface="Calibri" pitchFamily="34" charset="0"/>
                <a:ea typeface="Calibri" pitchFamily="34" charset="-122"/>
                <a:cs typeface="Calibri" pitchFamily="34" charset="-120"/>
              </a:rPr>
              <a:t> per second on platforms like Facebook</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Our Focus: Social Media News Feed</a:t>
            </a:r>
            <a:endParaRPr lang="en-US" sz="3200" dirty="0"/>
          </a:p>
        </p:txBody>
      </p:sp>
      <p:sp>
        <p:nvSpPr>
          <p:cNvPr id="3" name="Shape 1"/>
          <p:cNvSpPr/>
          <p:nvPr/>
        </p:nvSpPr>
        <p:spPr>
          <a:xfrm>
            <a:off x="548640" y="1051560"/>
            <a:ext cx="2560320" cy="1554480"/>
          </a:xfrm>
          <a:prstGeom prst="roundRect">
            <a:avLst>
              <a:gd name="adj" fmla="val 8824"/>
            </a:avLst>
          </a:prstGeom>
          <a:solidFill>
            <a:srgbClr val="F0F0F5"/>
          </a:solidFill>
          <a:ln/>
          <a:effectLst>
            <a:outerShdw sx="100000" sy="100000" kx="0" ky="0" algn="bl" rotWithShape="0" blurRad="101600" dist="25400" dir="8100000">
              <a:srgbClr val="DDDDDD">
                <a:alpha val="30000"/>
              </a:srgbClr>
            </a:outerShdw>
          </a:effectLst>
        </p:spPr>
      </p:sp>
      <p:sp>
        <p:nvSpPr>
          <p:cNvPr id="4" name="Shape 2"/>
          <p:cNvSpPr/>
          <p:nvPr/>
        </p:nvSpPr>
        <p:spPr>
          <a:xfrm>
            <a:off x="731520" y="1325880"/>
            <a:ext cx="457200" cy="457200"/>
          </a:xfrm>
          <a:prstGeom prst="ellipse">
            <a:avLst/>
          </a:prstGeom>
          <a:solidFill>
            <a:srgbClr val="E63946"/>
          </a:solidFill>
          <a:ln/>
        </p:spPr>
      </p:sp>
      <p:pic>
        <p:nvPicPr>
          <p:cNvPr id="5" name="Image 0" descr="preencoded.png">    </p:cNvPr>
          <p:cNvPicPr>
            <a:picLocks noChangeAspect="1"/>
          </p:cNvPicPr>
          <p:nvPr/>
        </p:nvPicPr>
        <p:blipFill>
          <a:blip r:embed="rId1"/>
          <a:stretch>
            <a:fillRect/>
          </a:stretch>
        </p:blipFill>
        <p:spPr>
          <a:xfrm>
            <a:off x="845820" y="1440180"/>
            <a:ext cx="228600" cy="228600"/>
          </a:xfrm>
          <a:prstGeom prst="rect">
            <a:avLst/>
          </a:prstGeom>
        </p:spPr>
      </p:pic>
      <p:sp>
        <p:nvSpPr>
          <p:cNvPr id="6" name="Text 3"/>
          <p:cNvSpPr txBox="1"/>
          <p:nvPr/>
        </p:nvSpPr>
        <p:spPr>
          <a:xfrm>
            <a:off x="1325880" y="1188720"/>
            <a:ext cx="1554480" cy="594360"/>
          </a:xfrm>
          <a:prstGeom prst="rect">
            <a:avLst/>
          </a:prstGeom>
          <a:noFill/>
          <a:ln/>
        </p:spPr>
        <p:txBody>
          <a:bodyPr wrap="square" lIns="0" tIns="0" rIns="0" bIns="0" rtlCol="0" anchor="ctr"/>
          <a:lstStyle/>
          <a:p>
            <a:pPr algn="l" indent="0" marL="0">
              <a:buNone/>
            </a:pPr>
            <a:r>
              <a:rPr lang="en-US" sz="3600" b="1" dirty="0">
                <a:solidFill>
                  <a:srgbClr val="E63946"/>
                </a:solidFill>
                <a:latin typeface="Cambria" pitchFamily="34" charset="0"/>
                <a:ea typeface="Cambria" pitchFamily="34" charset="-122"/>
                <a:cs typeface="Cambria" pitchFamily="34" charset="-120"/>
              </a:rPr>
              <a:t>2B+</a:t>
            </a:r>
            <a:endParaRPr lang="en-US" sz="3600" dirty="0"/>
          </a:p>
        </p:txBody>
      </p:sp>
      <p:sp>
        <p:nvSpPr>
          <p:cNvPr id="7" name="Text 4"/>
          <p:cNvSpPr txBox="1"/>
          <p:nvPr/>
        </p:nvSpPr>
        <p:spPr>
          <a:xfrm>
            <a:off x="1325880" y="1828800"/>
            <a:ext cx="1554480" cy="594360"/>
          </a:xfrm>
          <a:prstGeom prst="rect">
            <a:avLst/>
          </a:prstGeom>
          <a:noFill/>
          <a:ln/>
        </p:spPr>
        <p:txBody>
          <a:bodyPr wrap="square" lIns="0" tIns="0" rIns="0" bIns="0" rtlCol="0" anchor="t"/>
          <a:lstStyle/>
          <a:p>
            <a:pPr algn="l" indent="0" marL="0">
              <a:lnSpc>
                <a:spcPct val="120000"/>
              </a:lnSpc>
              <a:buNone/>
            </a:pPr>
            <a:r>
              <a:rPr lang="en-US" sz="1100" dirty="0">
                <a:solidFill>
                  <a:srgbClr val="4A4A6A"/>
                </a:solidFill>
                <a:latin typeface="Calibri" pitchFamily="34" charset="0"/>
                <a:ea typeface="Calibri" pitchFamily="34" charset="-122"/>
                <a:cs typeface="Calibri" pitchFamily="34" charset="-120"/>
              </a:rPr>
              <a:t>Instagram Monthly</a:t>
            </a:r>
            <a:endParaRPr lang="en-US" sz="1100" dirty="0"/>
          </a:p>
          <a:p>
            <a:pPr algn="l" indent="0" marL="0">
              <a:lnSpc>
                <a:spcPct val="120000"/>
              </a:lnSpc>
              <a:buNone/>
            </a:pPr>
            <a:r>
              <a:rPr lang="en-US" sz="1100" dirty="0">
                <a:solidFill>
                  <a:srgbClr val="4A4A6A"/>
                </a:solidFill>
                <a:latin typeface="Calibri" pitchFamily="34" charset="0"/>
                <a:ea typeface="Calibri" pitchFamily="34" charset="-122"/>
                <a:cs typeface="Calibri" pitchFamily="34" charset="-120"/>
              </a:rPr>
              <a:t>Active Users</a:t>
            </a:r>
            <a:endParaRPr lang="en-US" sz="1100" dirty="0"/>
          </a:p>
        </p:txBody>
      </p:sp>
      <p:sp>
        <p:nvSpPr>
          <p:cNvPr id="8" name="Shape 5"/>
          <p:cNvSpPr/>
          <p:nvPr/>
        </p:nvSpPr>
        <p:spPr>
          <a:xfrm>
            <a:off x="3383280" y="1051560"/>
            <a:ext cx="2560320" cy="1554480"/>
          </a:xfrm>
          <a:prstGeom prst="roundRect">
            <a:avLst>
              <a:gd name="adj" fmla="val 8824"/>
            </a:avLst>
          </a:prstGeom>
          <a:solidFill>
            <a:srgbClr val="F0F0F5"/>
          </a:solidFill>
          <a:ln/>
          <a:effectLst>
            <a:outerShdw sx="100000" sy="100000" kx="0" ky="0" algn="bl" rotWithShape="0" blurRad="101600" dist="25400" dir="8100000">
              <a:srgbClr val="DDDDDD">
                <a:alpha val="30000"/>
              </a:srgbClr>
            </a:outerShdw>
          </a:effectLst>
        </p:spPr>
      </p:sp>
      <p:sp>
        <p:nvSpPr>
          <p:cNvPr id="9" name="Shape 6"/>
          <p:cNvSpPr/>
          <p:nvPr/>
        </p:nvSpPr>
        <p:spPr>
          <a:xfrm>
            <a:off x="3566160" y="1325880"/>
            <a:ext cx="457200" cy="457200"/>
          </a:xfrm>
          <a:prstGeom prst="ellipse">
            <a:avLst/>
          </a:prstGeom>
          <a:solidFill>
            <a:srgbClr val="264653"/>
          </a:solidFill>
          <a:ln/>
        </p:spPr>
      </p:sp>
      <p:pic>
        <p:nvPicPr>
          <p:cNvPr id="10" name="Image 1" descr="preencoded.png">    </p:cNvPr>
          <p:cNvPicPr>
            <a:picLocks noChangeAspect="1"/>
          </p:cNvPicPr>
          <p:nvPr/>
        </p:nvPicPr>
        <p:blipFill>
          <a:blip r:embed="rId2"/>
          <a:stretch>
            <a:fillRect/>
          </a:stretch>
        </p:blipFill>
        <p:spPr>
          <a:xfrm>
            <a:off x="3680460" y="1440180"/>
            <a:ext cx="228600" cy="228600"/>
          </a:xfrm>
          <a:prstGeom prst="rect">
            <a:avLst/>
          </a:prstGeom>
        </p:spPr>
      </p:pic>
      <p:sp>
        <p:nvSpPr>
          <p:cNvPr id="11" name="Text 7"/>
          <p:cNvSpPr txBox="1"/>
          <p:nvPr/>
        </p:nvSpPr>
        <p:spPr>
          <a:xfrm>
            <a:off x="4160520" y="1188720"/>
            <a:ext cx="1554480" cy="594360"/>
          </a:xfrm>
          <a:prstGeom prst="rect">
            <a:avLst/>
          </a:prstGeom>
          <a:noFill/>
          <a:ln/>
        </p:spPr>
        <p:txBody>
          <a:bodyPr wrap="square" lIns="0" tIns="0" rIns="0" bIns="0" rtlCol="0" anchor="ctr"/>
          <a:lstStyle/>
          <a:p>
            <a:pPr algn="l" indent="0" marL="0">
              <a:buNone/>
            </a:pPr>
            <a:r>
              <a:rPr lang="en-US" sz="3600" b="1" dirty="0">
                <a:solidFill>
                  <a:srgbClr val="264653"/>
                </a:solidFill>
                <a:latin typeface="Cambria" pitchFamily="34" charset="0"/>
                <a:ea typeface="Cambria" pitchFamily="34" charset="-122"/>
                <a:cs typeface="Cambria" pitchFamily="34" charset="-120"/>
              </a:rPr>
              <a:t>3B+</a:t>
            </a:r>
            <a:endParaRPr lang="en-US" sz="3600" dirty="0"/>
          </a:p>
        </p:txBody>
      </p:sp>
      <p:sp>
        <p:nvSpPr>
          <p:cNvPr id="12" name="Text 8"/>
          <p:cNvSpPr txBox="1"/>
          <p:nvPr/>
        </p:nvSpPr>
        <p:spPr>
          <a:xfrm>
            <a:off x="4160520" y="1828800"/>
            <a:ext cx="1554480" cy="594360"/>
          </a:xfrm>
          <a:prstGeom prst="rect">
            <a:avLst/>
          </a:prstGeom>
          <a:noFill/>
          <a:ln/>
        </p:spPr>
        <p:txBody>
          <a:bodyPr wrap="square" lIns="0" tIns="0" rIns="0" bIns="0" rtlCol="0" anchor="t"/>
          <a:lstStyle/>
          <a:p>
            <a:pPr algn="l" indent="0" marL="0">
              <a:lnSpc>
                <a:spcPct val="120000"/>
              </a:lnSpc>
              <a:buNone/>
            </a:pPr>
            <a:r>
              <a:rPr lang="en-US" sz="1100" dirty="0">
                <a:solidFill>
                  <a:srgbClr val="4A4A6A"/>
                </a:solidFill>
                <a:latin typeface="Calibri" pitchFamily="34" charset="0"/>
                <a:ea typeface="Calibri" pitchFamily="34" charset="-122"/>
                <a:cs typeface="Calibri" pitchFamily="34" charset="-120"/>
              </a:rPr>
              <a:t>Facebook Monthly</a:t>
            </a:r>
            <a:endParaRPr lang="en-US" sz="1100" dirty="0"/>
          </a:p>
          <a:p>
            <a:pPr algn="l" indent="0" marL="0">
              <a:lnSpc>
                <a:spcPct val="120000"/>
              </a:lnSpc>
              <a:buNone/>
            </a:pPr>
            <a:r>
              <a:rPr lang="en-US" sz="1100" dirty="0">
                <a:solidFill>
                  <a:srgbClr val="4A4A6A"/>
                </a:solidFill>
                <a:latin typeface="Calibri" pitchFamily="34" charset="0"/>
                <a:ea typeface="Calibri" pitchFamily="34" charset="-122"/>
                <a:cs typeface="Calibri" pitchFamily="34" charset="-120"/>
              </a:rPr>
              <a:t>Active Users</a:t>
            </a:r>
            <a:endParaRPr lang="en-US" sz="1100" dirty="0"/>
          </a:p>
        </p:txBody>
      </p:sp>
      <p:sp>
        <p:nvSpPr>
          <p:cNvPr id="13" name="Shape 9"/>
          <p:cNvSpPr/>
          <p:nvPr/>
        </p:nvSpPr>
        <p:spPr>
          <a:xfrm>
            <a:off x="6217920" y="1051560"/>
            <a:ext cx="2560320" cy="1554480"/>
          </a:xfrm>
          <a:prstGeom prst="roundRect">
            <a:avLst>
              <a:gd name="adj" fmla="val 8824"/>
            </a:avLst>
          </a:prstGeom>
          <a:solidFill>
            <a:srgbClr val="F0F0F5"/>
          </a:solidFill>
          <a:ln/>
          <a:effectLst>
            <a:outerShdw sx="100000" sy="100000" kx="0" ky="0" algn="bl" rotWithShape="0" blurRad="101600" dist="25400" dir="8100000">
              <a:srgbClr val="DDDDDD">
                <a:alpha val="30000"/>
              </a:srgbClr>
            </a:outerShdw>
          </a:effectLst>
        </p:spPr>
      </p:sp>
      <p:sp>
        <p:nvSpPr>
          <p:cNvPr id="14" name="Shape 10"/>
          <p:cNvSpPr/>
          <p:nvPr/>
        </p:nvSpPr>
        <p:spPr>
          <a:xfrm>
            <a:off x="6400800" y="1371600"/>
            <a:ext cx="457200" cy="457200"/>
          </a:xfrm>
          <a:prstGeom prst="ellipse">
            <a:avLst/>
          </a:prstGeom>
          <a:solidFill>
            <a:srgbClr val="2A9D8F"/>
          </a:solidFill>
          <a:ln/>
        </p:spPr>
      </p:sp>
      <p:pic>
        <p:nvPicPr>
          <p:cNvPr id="15" name="Image 2" descr="preencoded.png">    </p:cNvPr>
          <p:cNvPicPr>
            <a:picLocks noChangeAspect="1"/>
          </p:cNvPicPr>
          <p:nvPr/>
        </p:nvPicPr>
        <p:blipFill>
          <a:blip r:embed="rId3"/>
          <a:stretch>
            <a:fillRect/>
          </a:stretch>
        </p:blipFill>
        <p:spPr>
          <a:xfrm>
            <a:off x="6515100" y="1485900"/>
            <a:ext cx="228600" cy="228600"/>
          </a:xfrm>
          <a:prstGeom prst="rect">
            <a:avLst/>
          </a:prstGeom>
        </p:spPr>
      </p:pic>
      <p:sp>
        <p:nvSpPr>
          <p:cNvPr id="16" name="Text 11"/>
          <p:cNvSpPr txBox="1"/>
          <p:nvPr/>
        </p:nvSpPr>
        <p:spPr>
          <a:xfrm>
            <a:off x="6995160" y="1188720"/>
            <a:ext cx="1554480" cy="594360"/>
          </a:xfrm>
          <a:prstGeom prst="rect">
            <a:avLst/>
          </a:prstGeom>
          <a:noFill/>
          <a:ln/>
        </p:spPr>
        <p:txBody>
          <a:bodyPr wrap="square" lIns="0" tIns="0" rIns="0" bIns="0" rtlCol="0" anchor="ctr"/>
          <a:lstStyle/>
          <a:p>
            <a:pPr algn="l" indent="0" marL="0">
              <a:buNone/>
            </a:pPr>
            <a:r>
              <a:rPr lang="en-US" sz="3600" b="1" dirty="0">
                <a:solidFill>
                  <a:srgbClr val="2A9D8F"/>
                </a:solidFill>
                <a:latin typeface="Cambria" pitchFamily="34" charset="0"/>
                <a:ea typeface="Cambria" pitchFamily="34" charset="-122"/>
                <a:cs typeface="Cambria" pitchFamily="34" charset="-120"/>
              </a:rPr>
              <a:t>2.5 hrs</a:t>
            </a:r>
            <a:endParaRPr lang="en-US" sz="3600" dirty="0"/>
          </a:p>
        </p:txBody>
      </p:sp>
      <p:sp>
        <p:nvSpPr>
          <p:cNvPr id="17" name="Text 12"/>
          <p:cNvSpPr txBox="1"/>
          <p:nvPr/>
        </p:nvSpPr>
        <p:spPr>
          <a:xfrm>
            <a:off x="6995160" y="1828800"/>
            <a:ext cx="1554480" cy="594360"/>
          </a:xfrm>
          <a:prstGeom prst="rect">
            <a:avLst/>
          </a:prstGeom>
          <a:noFill/>
          <a:ln/>
        </p:spPr>
        <p:txBody>
          <a:bodyPr wrap="square" lIns="0" tIns="0" rIns="0" bIns="0" rtlCol="0" anchor="t"/>
          <a:lstStyle/>
          <a:p>
            <a:pPr algn="l" indent="0" marL="0">
              <a:lnSpc>
                <a:spcPct val="120000"/>
              </a:lnSpc>
              <a:buNone/>
            </a:pPr>
            <a:r>
              <a:rPr lang="en-US" sz="1100" dirty="0">
                <a:solidFill>
                  <a:srgbClr val="4A4A6A"/>
                </a:solidFill>
                <a:latin typeface="Calibri" pitchFamily="34" charset="0"/>
                <a:ea typeface="Calibri" pitchFamily="34" charset="-122"/>
                <a:cs typeface="Calibri" pitchFamily="34" charset="-120"/>
              </a:rPr>
              <a:t>Average Daily</a:t>
            </a:r>
            <a:endParaRPr lang="en-US" sz="1100" dirty="0"/>
          </a:p>
          <a:p>
            <a:pPr algn="l" indent="0" marL="0">
              <a:lnSpc>
                <a:spcPct val="120000"/>
              </a:lnSpc>
              <a:buNone/>
            </a:pPr>
            <a:r>
              <a:rPr lang="en-US" sz="1100" dirty="0">
                <a:solidFill>
                  <a:srgbClr val="4A4A6A"/>
                </a:solidFill>
                <a:latin typeface="Calibri" pitchFamily="34" charset="0"/>
                <a:ea typeface="Calibri" pitchFamily="34" charset="-122"/>
                <a:cs typeface="Calibri" pitchFamily="34" charset="-120"/>
              </a:rPr>
              <a:t>Social Media Time</a:t>
            </a:r>
            <a:endParaRPr lang="en-US" sz="1100" dirty="0"/>
          </a:p>
        </p:txBody>
      </p:sp>
      <p:sp>
        <p:nvSpPr>
          <p:cNvPr id="18" name="Text 13"/>
          <p:cNvSpPr txBox="1"/>
          <p:nvPr/>
        </p:nvSpPr>
        <p:spPr>
          <a:xfrm>
            <a:off x="548640" y="2926080"/>
            <a:ext cx="8046720" cy="365760"/>
          </a:xfrm>
          <a:prstGeom prst="rect">
            <a:avLst/>
          </a:prstGeom>
          <a:noFill/>
          <a:ln/>
        </p:spPr>
        <p:txBody>
          <a:bodyPr wrap="square" lIns="0" tIns="0" rIns="0" bIns="0" rtlCol="0" anchor="ctr"/>
          <a:lstStyle/>
          <a:p>
            <a:pPr indent="0" marL="0">
              <a:buNone/>
            </a:pPr>
            <a:r>
              <a:rPr lang="en-US" sz="1800" b="1" dirty="0">
                <a:solidFill>
                  <a:srgbClr val="1B1B2F"/>
                </a:solidFill>
                <a:latin typeface="Cambria" pitchFamily="34" charset="0"/>
                <a:ea typeface="Cambria" pitchFamily="34" charset="-122"/>
                <a:cs typeface="Cambria" pitchFamily="34" charset="-120"/>
              </a:rPr>
              <a:t>Why This Matters</a:t>
            </a:r>
            <a:endParaRPr lang="en-US" sz="1800" dirty="0"/>
          </a:p>
        </p:txBody>
      </p:sp>
      <p:sp>
        <p:nvSpPr>
          <p:cNvPr id="19" name="Text 14"/>
          <p:cNvSpPr txBox="1"/>
          <p:nvPr/>
        </p:nvSpPr>
        <p:spPr>
          <a:xfrm>
            <a:off x="548640" y="3337560"/>
            <a:ext cx="8046720" cy="822960"/>
          </a:xfrm>
          <a:prstGeom prst="rect">
            <a:avLst/>
          </a:prstGeom>
          <a:noFill/>
          <a:ln/>
        </p:spPr>
        <p:txBody>
          <a:bodyPr wrap="square" lIns="0" tIns="0" rIns="0" bIns="0" rtlCol="0" anchor="ctr"/>
          <a:lstStyle/>
          <a:p>
            <a:pPr algn="l" indent="0" marL="0">
              <a:lnSpc>
                <a:spcPct val="140000"/>
              </a:lnSpc>
              <a:buNone/>
            </a:pPr>
            <a:r>
              <a:rPr lang="en-US" sz="1300" dirty="0">
                <a:solidFill>
                  <a:srgbClr val="4A4A6A"/>
                </a:solidFill>
                <a:latin typeface="Calibri" pitchFamily="34" charset="0"/>
                <a:ea typeface="Calibri" pitchFamily="34" charset="-122"/>
                <a:cs typeface="Calibri" pitchFamily="34" charset="-120"/>
              </a:rPr>
              <a:t>Unlike search engines where you actively seek information, social media feeds are passively consumed. The algorithm decides what you see without you asking — curating, filtering, and prioritizing content to keep you engaged the longest, not to inform you best.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How the News Feed Algorithm Works</a:t>
            </a:r>
            <a:endParaRPr lang="en-US" sz="3200" dirty="0"/>
          </a:p>
        </p:txBody>
      </p:sp>
      <p:sp>
        <p:nvSpPr>
          <p:cNvPr id="3" name="Shape 1"/>
          <p:cNvSpPr/>
          <p:nvPr/>
        </p:nvSpPr>
        <p:spPr>
          <a:xfrm>
            <a:off x="365760" y="1051560"/>
            <a:ext cx="1920240" cy="2880360"/>
          </a:xfrm>
          <a:prstGeom prst="roundRect">
            <a:avLst>
              <a:gd name="adj" fmla="val 5714"/>
            </a:avLst>
          </a:prstGeom>
          <a:solidFill>
            <a:srgbClr val="F0F0F5"/>
          </a:solidFill>
          <a:ln/>
          <a:effectLst>
            <a:outerShdw sx="100000" sy="100000" kx="0" ky="0" algn="bl" rotWithShape="0" blurRad="76200" dist="25400" dir="8100000">
              <a:srgbClr val="DDDDDD">
                <a:alpha val="25000"/>
              </a:srgbClr>
            </a:outerShdw>
          </a:effectLst>
        </p:spPr>
      </p:sp>
      <p:sp>
        <p:nvSpPr>
          <p:cNvPr id="4" name="Shape 2"/>
          <p:cNvSpPr/>
          <p:nvPr/>
        </p:nvSpPr>
        <p:spPr>
          <a:xfrm>
            <a:off x="1005840" y="1234440"/>
            <a:ext cx="594360" cy="594360"/>
          </a:xfrm>
          <a:prstGeom prst="ellipse">
            <a:avLst/>
          </a:prstGeom>
          <a:solidFill>
            <a:srgbClr val="E63946"/>
          </a:solidFill>
          <a:ln/>
        </p:spPr>
      </p:sp>
      <p:sp>
        <p:nvSpPr>
          <p:cNvPr id="5" name="Text 3"/>
          <p:cNvSpPr txBox="1"/>
          <p:nvPr/>
        </p:nvSpPr>
        <p:spPr>
          <a:xfrm>
            <a:off x="1005840" y="1234440"/>
            <a:ext cx="59436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Shape 4"/>
          <p:cNvSpPr/>
          <p:nvPr/>
        </p:nvSpPr>
        <p:spPr>
          <a:xfrm>
            <a:off x="914400" y="2011680"/>
            <a:ext cx="731520" cy="731520"/>
          </a:xfrm>
          <a:prstGeom prst="ellipse">
            <a:avLst/>
          </a:prstGeom>
          <a:solidFill>
            <a:srgbClr val="E63946"/>
          </a:solidFill>
          <a:ln/>
        </p:spPr>
      </p:sp>
      <p:pic>
        <p:nvPicPr>
          <p:cNvPr id="7" name="Image 0" descr="preencoded.png">    </p:cNvPr>
          <p:cNvPicPr>
            <a:picLocks noChangeAspect="1"/>
          </p:cNvPicPr>
          <p:nvPr/>
        </p:nvPicPr>
        <p:blipFill>
          <a:blip r:embed="rId1"/>
          <a:stretch>
            <a:fillRect/>
          </a:stretch>
        </p:blipFill>
        <p:spPr>
          <a:xfrm>
            <a:off x="1097280" y="2194560"/>
            <a:ext cx="365760" cy="365760"/>
          </a:xfrm>
          <a:prstGeom prst="rect">
            <a:avLst/>
          </a:prstGeom>
        </p:spPr>
      </p:pic>
      <p:sp>
        <p:nvSpPr>
          <p:cNvPr id="8" name="Text 5"/>
          <p:cNvSpPr txBox="1"/>
          <p:nvPr/>
        </p:nvSpPr>
        <p:spPr>
          <a:xfrm>
            <a:off x="502920" y="2834640"/>
            <a:ext cx="1645920" cy="457200"/>
          </a:xfrm>
          <a:prstGeom prst="rect">
            <a:avLst/>
          </a:prstGeom>
          <a:noFill/>
          <a:ln/>
        </p:spPr>
        <p:txBody>
          <a:bodyPr wrap="square" lIns="0" tIns="0" rIns="0" bIns="0" rtlCol="0" anchor="t"/>
          <a:lstStyle/>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Data</a:t>
            </a:r>
            <a:endParaRPr lang="en-US" sz="1300" dirty="0"/>
          </a:p>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Collection</a:t>
            </a:r>
            <a:endParaRPr lang="en-US" sz="1300" dirty="0"/>
          </a:p>
        </p:txBody>
      </p:sp>
      <p:sp>
        <p:nvSpPr>
          <p:cNvPr id="9" name="Text 6"/>
          <p:cNvSpPr txBox="1"/>
          <p:nvPr/>
        </p:nvSpPr>
        <p:spPr>
          <a:xfrm>
            <a:off x="502920" y="3291840"/>
            <a:ext cx="1645920" cy="548640"/>
          </a:xfrm>
          <a:prstGeom prst="rect">
            <a:avLst/>
          </a:prstGeom>
          <a:noFill/>
          <a:ln/>
        </p:spPr>
        <p:txBody>
          <a:bodyPr wrap="square" lIns="0" tIns="0" rIns="0" bIns="0" rtlCol="0" anchor="t"/>
          <a:lstStyle/>
          <a:p>
            <a:pPr algn="ctr" indent="0" marL="0">
              <a:lnSpc>
                <a:spcPct val="120000"/>
              </a:lnSpc>
              <a:buNone/>
            </a:pPr>
            <a:r>
              <a:rPr lang="en-US" sz="1050" dirty="0">
                <a:solidFill>
                  <a:srgbClr val="4A4A6A"/>
                </a:solidFill>
                <a:latin typeface="Calibri" pitchFamily="34" charset="0"/>
                <a:ea typeface="Calibri" pitchFamily="34" charset="-122"/>
                <a:cs typeface="Calibri" pitchFamily="34" charset="-120"/>
              </a:rPr>
              <a:t>Gathers signals from likes, shares, watch time, and scrolling behavior</a:t>
            </a:r>
            <a:endParaRPr lang="en-US" sz="1050" dirty="0"/>
          </a:p>
        </p:txBody>
      </p:sp>
      <p:sp>
        <p:nvSpPr>
          <p:cNvPr id="10" name="Shape 7"/>
          <p:cNvSpPr/>
          <p:nvPr/>
        </p:nvSpPr>
        <p:spPr>
          <a:xfrm>
            <a:off x="2514600" y="1051560"/>
            <a:ext cx="1920240" cy="2880360"/>
          </a:xfrm>
          <a:prstGeom prst="roundRect">
            <a:avLst>
              <a:gd name="adj" fmla="val 5714"/>
            </a:avLst>
          </a:prstGeom>
          <a:solidFill>
            <a:srgbClr val="F0F0F5"/>
          </a:solidFill>
          <a:ln/>
          <a:effectLst>
            <a:outerShdw sx="100000" sy="100000" kx="0" ky="0" algn="bl" rotWithShape="0" blurRad="76200" dist="25400" dir="8100000">
              <a:srgbClr val="DDDDDD">
                <a:alpha val="25000"/>
              </a:srgbClr>
            </a:outerShdw>
          </a:effectLst>
        </p:spPr>
      </p:sp>
      <p:sp>
        <p:nvSpPr>
          <p:cNvPr id="11" name="Shape 8"/>
          <p:cNvSpPr/>
          <p:nvPr/>
        </p:nvSpPr>
        <p:spPr>
          <a:xfrm>
            <a:off x="3154680" y="1234440"/>
            <a:ext cx="594360" cy="594360"/>
          </a:xfrm>
          <a:prstGeom prst="ellipse">
            <a:avLst/>
          </a:prstGeom>
          <a:solidFill>
            <a:srgbClr val="264653"/>
          </a:solidFill>
          <a:ln/>
        </p:spPr>
      </p:sp>
      <p:sp>
        <p:nvSpPr>
          <p:cNvPr id="12" name="Text 9"/>
          <p:cNvSpPr txBox="1"/>
          <p:nvPr/>
        </p:nvSpPr>
        <p:spPr>
          <a:xfrm>
            <a:off x="3154680" y="1234440"/>
            <a:ext cx="59436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Shape 10"/>
          <p:cNvSpPr/>
          <p:nvPr/>
        </p:nvSpPr>
        <p:spPr>
          <a:xfrm>
            <a:off x="3063240" y="2011680"/>
            <a:ext cx="731520" cy="731520"/>
          </a:xfrm>
          <a:prstGeom prst="ellipse">
            <a:avLst/>
          </a:prstGeom>
          <a:solidFill>
            <a:srgbClr val="264653"/>
          </a:solidFill>
          <a:ln/>
        </p:spPr>
      </p:sp>
      <p:pic>
        <p:nvPicPr>
          <p:cNvPr id="14" name="Image 1" descr="preencoded.png">    </p:cNvPr>
          <p:cNvPicPr>
            <a:picLocks noChangeAspect="1"/>
          </p:cNvPicPr>
          <p:nvPr/>
        </p:nvPicPr>
        <p:blipFill>
          <a:blip r:embed="rId2"/>
          <a:stretch>
            <a:fillRect/>
          </a:stretch>
        </p:blipFill>
        <p:spPr>
          <a:xfrm>
            <a:off x="3246120" y="2194560"/>
            <a:ext cx="365760" cy="365760"/>
          </a:xfrm>
          <a:prstGeom prst="rect">
            <a:avLst/>
          </a:prstGeom>
        </p:spPr>
      </p:pic>
      <p:sp>
        <p:nvSpPr>
          <p:cNvPr id="15" name="Text 11"/>
          <p:cNvSpPr txBox="1"/>
          <p:nvPr/>
        </p:nvSpPr>
        <p:spPr>
          <a:xfrm>
            <a:off x="2651760" y="2834640"/>
            <a:ext cx="1645920" cy="457200"/>
          </a:xfrm>
          <a:prstGeom prst="rect">
            <a:avLst/>
          </a:prstGeom>
          <a:noFill/>
          <a:ln/>
        </p:spPr>
        <p:txBody>
          <a:bodyPr wrap="square" lIns="0" tIns="0" rIns="0" bIns="0" rtlCol="0" anchor="t"/>
          <a:lstStyle/>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Content</a:t>
            </a:r>
            <a:endParaRPr lang="en-US" sz="1300" dirty="0"/>
          </a:p>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Ranking</a:t>
            </a:r>
            <a:endParaRPr lang="en-US" sz="1300" dirty="0"/>
          </a:p>
        </p:txBody>
      </p:sp>
      <p:sp>
        <p:nvSpPr>
          <p:cNvPr id="16" name="Text 12"/>
          <p:cNvSpPr txBox="1"/>
          <p:nvPr/>
        </p:nvSpPr>
        <p:spPr>
          <a:xfrm>
            <a:off x="2651760" y="3291840"/>
            <a:ext cx="1645920" cy="548640"/>
          </a:xfrm>
          <a:prstGeom prst="rect">
            <a:avLst/>
          </a:prstGeom>
          <a:noFill/>
          <a:ln/>
        </p:spPr>
        <p:txBody>
          <a:bodyPr wrap="square" lIns="0" tIns="0" rIns="0" bIns="0" rtlCol="0" anchor="t"/>
          <a:lstStyle/>
          <a:p>
            <a:pPr algn="ctr" indent="0" marL="0">
              <a:lnSpc>
                <a:spcPct val="120000"/>
              </a:lnSpc>
              <a:buNone/>
            </a:pPr>
            <a:r>
              <a:rPr lang="en-US" sz="1050" dirty="0">
                <a:solidFill>
                  <a:srgbClr val="4A4A6A"/>
                </a:solidFill>
                <a:latin typeface="Calibri" pitchFamily="34" charset="0"/>
                <a:ea typeface="Calibri" pitchFamily="34" charset="-122"/>
                <a:cs typeface="Calibri" pitchFamily="34" charset="-120"/>
              </a:rPr>
              <a:t>Assigns relevance scores based on hundreds of engagement factors</a:t>
            </a:r>
            <a:endParaRPr lang="en-US" sz="1050" dirty="0"/>
          </a:p>
        </p:txBody>
      </p:sp>
      <p:sp>
        <p:nvSpPr>
          <p:cNvPr id="17" name="Shape 13"/>
          <p:cNvSpPr/>
          <p:nvPr/>
        </p:nvSpPr>
        <p:spPr>
          <a:xfrm>
            <a:off x="4663440" y="1051560"/>
            <a:ext cx="1920240" cy="2880360"/>
          </a:xfrm>
          <a:prstGeom prst="roundRect">
            <a:avLst>
              <a:gd name="adj" fmla="val 5714"/>
            </a:avLst>
          </a:prstGeom>
          <a:solidFill>
            <a:srgbClr val="F0F0F5"/>
          </a:solidFill>
          <a:ln/>
          <a:effectLst>
            <a:outerShdw sx="100000" sy="100000" kx="0" ky="0" algn="bl" rotWithShape="0" blurRad="76200" dist="25400" dir="8100000">
              <a:srgbClr val="DDDDDD">
                <a:alpha val="25000"/>
              </a:srgbClr>
            </a:outerShdw>
          </a:effectLst>
        </p:spPr>
      </p:sp>
      <p:sp>
        <p:nvSpPr>
          <p:cNvPr id="18" name="Shape 14"/>
          <p:cNvSpPr/>
          <p:nvPr/>
        </p:nvSpPr>
        <p:spPr>
          <a:xfrm>
            <a:off x="5303520" y="1234440"/>
            <a:ext cx="594360" cy="594360"/>
          </a:xfrm>
          <a:prstGeom prst="ellipse">
            <a:avLst/>
          </a:prstGeom>
          <a:solidFill>
            <a:srgbClr val="2A9D8F"/>
          </a:solidFill>
          <a:ln/>
        </p:spPr>
      </p:sp>
      <p:sp>
        <p:nvSpPr>
          <p:cNvPr id="19" name="Text 15"/>
          <p:cNvSpPr txBox="1"/>
          <p:nvPr/>
        </p:nvSpPr>
        <p:spPr>
          <a:xfrm>
            <a:off x="5303520" y="1234440"/>
            <a:ext cx="59436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Shape 16"/>
          <p:cNvSpPr/>
          <p:nvPr/>
        </p:nvSpPr>
        <p:spPr>
          <a:xfrm>
            <a:off x="5212080" y="2011680"/>
            <a:ext cx="731520" cy="731520"/>
          </a:xfrm>
          <a:prstGeom prst="ellipse">
            <a:avLst/>
          </a:prstGeom>
          <a:solidFill>
            <a:srgbClr val="2A9D8F"/>
          </a:solidFill>
          <a:ln/>
        </p:spPr>
      </p:sp>
      <p:pic>
        <p:nvPicPr>
          <p:cNvPr id="21" name="Image 2" descr="preencoded.png">    </p:cNvPr>
          <p:cNvPicPr>
            <a:picLocks noChangeAspect="1"/>
          </p:cNvPicPr>
          <p:nvPr/>
        </p:nvPicPr>
        <p:blipFill>
          <a:blip r:embed="rId3"/>
          <a:stretch>
            <a:fillRect/>
          </a:stretch>
        </p:blipFill>
        <p:spPr>
          <a:xfrm>
            <a:off x="5394960" y="2194560"/>
            <a:ext cx="365760" cy="365760"/>
          </a:xfrm>
          <a:prstGeom prst="rect">
            <a:avLst/>
          </a:prstGeom>
        </p:spPr>
      </p:pic>
      <p:sp>
        <p:nvSpPr>
          <p:cNvPr id="22" name="Text 17"/>
          <p:cNvSpPr txBox="1"/>
          <p:nvPr/>
        </p:nvSpPr>
        <p:spPr>
          <a:xfrm>
            <a:off x="4800600" y="2834640"/>
            <a:ext cx="1645920" cy="457200"/>
          </a:xfrm>
          <a:prstGeom prst="rect">
            <a:avLst/>
          </a:prstGeom>
          <a:noFill/>
          <a:ln/>
        </p:spPr>
        <p:txBody>
          <a:bodyPr wrap="square" lIns="0" tIns="0" rIns="0" bIns="0" rtlCol="0" anchor="t"/>
          <a:lstStyle/>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Engagement</a:t>
            </a:r>
            <a:endParaRPr lang="en-US" sz="1300" dirty="0"/>
          </a:p>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Prediction</a:t>
            </a:r>
            <a:endParaRPr lang="en-US" sz="1300" dirty="0"/>
          </a:p>
        </p:txBody>
      </p:sp>
      <p:sp>
        <p:nvSpPr>
          <p:cNvPr id="23" name="Text 18"/>
          <p:cNvSpPr txBox="1"/>
          <p:nvPr/>
        </p:nvSpPr>
        <p:spPr>
          <a:xfrm>
            <a:off x="4800600" y="3291840"/>
            <a:ext cx="1645920" cy="548640"/>
          </a:xfrm>
          <a:prstGeom prst="rect">
            <a:avLst/>
          </a:prstGeom>
          <a:noFill/>
          <a:ln/>
        </p:spPr>
        <p:txBody>
          <a:bodyPr wrap="square" lIns="0" tIns="0" rIns="0" bIns="0" rtlCol="0" anchor="t"/>
          <a:lstStyle/>
          <a:p>
            <a:pPr algn="ctr" indent="0" marL="0">
              <a:lnSpc>
                <a:spcPct val="120000"/>
              </a:lnSpc>
              <a:buNone/>
            </a:pPr>
            <a:r>
              <a:rPr lang="en-US" sz="1050" dirty="0">
                <a:solidFill>
                  <a:srgbClr val="4A4A6A"/>
                </a:solidFill>
                <a:latin typeface="Calibri" pitchFamily="34" charset="0"/>
                <a:ea typeface="Calibri" pitchFamily="34" charset="-122"/>
                <a:cs typeface="Calibri" pitchFamily="34" charset="-120"/>
              </a:rPr>
              <a:t>Estimates the probability you will interact with each post</a:t>
            </a:r>
            <a:endParaRPr lang="en-US" sz="1050" dirty="0"/>
          </a:p>
        </p:txBody>
      </p:sp>
      <p:sp>
        <p:nvSpPr>
          <p:cNvPr id="24" name="Shape 19"/>
          <p:cNvSpPr/>
          <p:nvPr/>
        </p:nvSpPr>
        <p:spPr>
          <a:xfrm>
            <a:off x="6812280" y="1051560"/>
            <a:ext cx="1920240" cy="2880360"/>
          </a:xfrm>
          <a:prstGeom prst="roundRect">
            <a:avLst>
              <a:gd name="adj" fmla="val 5714"/>
            </a:avLst>
          </a:prstGeom>
          <a:solidFill>
            <a:srgbClr val="F0F0F5"/>
          </a:solidFill>
          <a:ln/>
          <a:effectLst>
            <a:outerShdw sx="100000" sy="100000" kx="0" ky="0" algn="bl" rotWithShape="0" blurRad="76200" dist="25400" dir="8100000">
              <a:srgbClr val="DDDDDD">
                <a:alpha val="25000"/>
              </a:srgbClr>
            </a:outerShdw>
          </a:effectLst>
        </p:spPr>
      </p:sp>
      <p:sp>
        <p:nvSpPr>
          <p:cNvPr id="25" name="Shape 20"/>
          <p:cNvSpPr/>
          <p:nvPr/>
        </p:nvSpPr>
        <p:spPr>
          <a:xfrm>
            <a:off x="7452360" y="1234440"/>
            <a:ext cx="594360" cy="594360"/>
          </a:xfrm>
          <a:prstGeom prst="ellipse">
            <a:avLst/>
          </a:prstGeom>
          <a:solidFill>
            <a:srgbClr val="E63946"/>
          </a:solidFill>
          <a:ln/>
        </p:spPr>
      </p:sp>
      <p:sp>
        <p:nvSpPr>
          <p:cNvPr id="26" name="Text 21"/>
          <p:cNvSpPr txBox="1"/>
          <p:nvPr/>
        </p:nvSpPr>
        <p:spPr>
          <a:xfrm>
            <a:off x="7452360" y="1234440"/>
            <a:ext cx="59436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7" name="Shape 22"/>
          <p:cNvSpPr/>
          <p:nvPr/>
        </p:nvSpPr>
        <p:spPr>
          <a:xfrm>
            <a:off x="7360920" y="2011680"/>
            <a:ext cx="731520" cy="731520"/>
          </a:xfrm>
          <a:prstGeom prst="ellipse">
            <a:avLst/>
          </a:prstGeom>
          <a:solidFill>
            <a:srgbClr val="E63946"/>
          </a:solidFill>
          <a:ln/>
        </p:spPr>
      </p:sp>
      <p:pic>
        <p:nvPicPr>
          <p:cNvPr id="28" name="Image 3" descr="preencoded.png">    </p:cNvPr>
          <p:cNvPicPr>
            <a:picLocks noChangeAspect="1"/>
          </p:cNvPicPr>
          <p:nvPr/>
        </p:nvPicPr>
        <p:blipFill>
          <a:blip r:embed="rId4"/>
          <a:stretch>
            <a:fillRect/>
          </a:stretch>
        </p:blipFill>
        <p:spPr>
          <a:xfrm>
            <a:off x="7543800" y="2194560"/>
            <a:ext cx="365760" cy="365760"/>
          </a:xfrm>
          <a:prstGeom prst="rect">
            <a:avLst/>
          </a:prstGeom>
        </p:spPr>
      </p:pic>
      <p:sp>
        <p:nvSpPr>
          <p:cNvPr id="29" name="Text 23"/>
          <p:cNvSpPr txBox="1"/>
          <p:nvPr/>
        </p:nvSpPr>
        <p:spPr>
          <a:xfrm>
            <a:off x="6949440" y="2834640"/>
            <a:ext cx="1645920" cy="457200"/>
          </a:xfrm>
          <a:prstGeom prst="rect">
            <a:avLst/>
          </a:prstGeom>
          <a:noFill/>
          <a:ln/>
        </p:spPr>
        <p:txBody>
          <a:bodyPr wrap="square" lIns="0" tIns="0" rIns="0" bIns="0" rtlCol="0" anchor="t"/>
          <a:lstStyle/>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Personalized</a:t>
            </a:r>
            <a:endParaRPr lang="en-US" sz="1300" dirty="0"/>
          </a:p>
          <a:p>
            <a:pPr algn="ctr" indent="0" marL="0">
              <a:lnSpc>
                <a:spcPct val="110000"/>
              </a:lnSpc>
              <a:buNone/>
            </a:pPr>
            <a:r>
              <a:rPr lang="en-US" sz="1300" b="1" dirty="0">
                <a:solidFill>
                  <a:srgbClr val="1B1B2F"/>
                </a:solidFill>
                <a:latin typeface="Cambria" pitchFamily="34" charset="0"/>
                <a:ea typeface="Cambria" pitchFamily="34" charset="-122"/>
                <a:cs typeface="Cambria" pitchFamily="34" charset="-120"/>
              </a:rPr>
              <a:t>Delivery</a:t>
            </a:r>
            <a:endParaRPr lang="en-US" sz="1300" dirty="0"/>
          </a:p>
        </p:txBody>
      </p:sp>
      <p:sp>
        <p:nvSpPr>
          <p:cNvPr id="30" name="Text 24"/>
          <p:cNvSpPr txBox="1"/>
          <p:nvPr/>
        </p:nvSpPr>
        <p:spPr>
          <a:xfrm>
            <a:off x="6949440" y="3291840"/>
            <a:ext cx="1645920" cy="548640"/>
          </a:xfrm>
          <a:prstGeom prst="rect">
            <a:avLst/>
          </a:prstGeom>
          <a:noFill/>
          <a:ln/>
        </p:spPr>
        <p:txBody>
          <a:bodyPr wrap="square" lIns="0" tIns="0" rIns="0" bIns="0" rtlCol="0" anchor="t"/>
          <a:lstStyle/>
          <a:p>
            <a:pPr algn="ctr" indent="0" marL="0">
              <a:lnSpc>
                <a:spcPct val="120000"/>
              </a:lnSpc>
              <a:buNone/>
            </a:pPr>
            <a:r>
              <a:rPr lang="en-US" sz="1050" dirty="0">
                <a:solidFill>
                  <a:srgbClr val="4A4A6A"/>
                </a:solidFill>
                <a:latin typeface="Calibri" pitchFamily="34" charset="0"/>
                <a:ea typeface="Calibri" pitchFamily="34" charset="-122"/>
                <a:cs typeface="Calibri" pitchFamily="34" charset="-120"/>
              </a:rPr>
              <a:t>Delivers highest-scoring content at the top of your feed</a:t>
            </a:r>
            <a:endParaRPr lang="en-US" sz="1050" dirty="0"/>
          </a:p>
        </p:txBody>
      </p:sp>
      <p:sp>
        <p:nvSpPr>
          <p:cNvPr id="31" name="Text 25"/>
          <p:cNvSpPr txBox="1"/>
          <p:nvPr/>
        </p:nvSpPr>
        <p:spPr>
          <a:xfrm>
            <a:off x="548640" y="4206240"/>
            <a:ext cx="8046720" cy="365760"/>
          </a:xfrm>
          <a:prstGeom prst="rect">
            <a:avLst/>
          </a:prstGeom>
          <a:noFill/>
          <a:ln/>
        </p:spPr>
        <p:txBody>
          <a:bodyPr wrap="square" lIns="0" tIns="0" rIns="0" bIns="0" rtlCol="0" anchor="ctr"/>
          <a:lstStyle/>
          <a:p>
            <a:pPr algn="l" indent="0" marL="0">
              <a:buNone/>
            </a:pPr>
            <a:r>
              <a:rPr lang="en-US" sz="1300" b="1" dirty="0">
                <a:solidFill>
                  <a:srgbClr val="E63946"/>
                </a:solidFill>
                <a:latin typeface="Calibri" pitchFamily="34" charset="0"/>
                <a:ea typeface="Calibri" pitchFamily="34" charset="-122"/>
                <a:cs typeface="Calibri" pitchFamily="34" charset="-120"/>
              </a:rPr>
              <a:t>Key Insight: </a:t>
            </a:r>
            <a:pPr algn="l" indent="0" marL="0">
              <a:buNone/>
            </a:pPr>
            <a:r>
              <a:rPr lang="en-US" sz="1300" dirty="0">
                <a:solidFill>
                  <a:srgbClr val="4A4A6A"/>
                </a:solidFill>
                <a:latin typeface="Calibri" pitchFamily="34" charset="0"/>
                <a:ea typeface="Calibri" pitchFamily="34" charset="-122"/>
                <a:cs typeface="Calibri" pitchFamily="34" charset="-120"/>
              </a:rPr>
              <a:t>The primary goal is to maximize your time on the platform — not to inform or educate you.</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The Data Behind Your Feed</a:t>
            </a:r>
            <a:endParaRPr lang="en-US" sz="3200" dirty="0"/>
          </a:p>
        </p:txBody>
      </p:sp>
      <p:sp>
        <p:nvSpPr>
          <p:cNvPr id="3" name="Shape 1"/>
          <p:cNvSpPr/>
          <p:nvPr/>
        </p:nvSpPr>
        <p:spPr>
          <a:xfrm>
            <a:off x="548640" y="1078992"/>
            <a:ext cx="475488" cy="475488"/>
          </a:xfrm>
          <a:prstGeom prst="ellipse">
            <a:avLst/>
          </a:prstGeom>
          <a:solidFill>
            <a:srgbClr val="E63946"/>
          </a:solidFill>
          <a:ln/>
        </p:spPr>
      </p:sp>
      <p:pic>
        <p:nvPicPr>
          <p:cNvPr id="4" name="Image 0" descr="preencoded.png">    </p:cNvPr>
          <p:cNvPicPr>
            <a:picLocks noChangeAspect="1"/>
          </p:cNvPicPr>
          <p:nvPr/>
        </p:nvPicPr>
        <p:blipFill>
          <a:blip r:embed="rId1"/>
          <a:stretch>
            <a:fillRect/>
          </a:stretch>
        </p:blipFill>
        <p:spPr>
          <a:xfrm>
            <a:off x="667512" y="1197864"/>
            <a:ext cx="237744" cy="237744"/>
          </a:xfrm>
          <a:prstGeom prst="rect">
            <a:avLst/>
          </a:prstGeom>
        </p:spPr>
      </p:pic>
      <p:sp>
        <p:nvSpPr>
          <p:cNvPr id="5" name="Text 2"/>
          <p:cNvSpPr txBox="1"/>
          <p:nvPr/>
        </p:nvSpPr>
        <p:spPr>
          <a:xfrm>
            <a:off x="1143000" y="1005840"/>
            <a:ext cx="3520440" cy="731520"/>
          </a:xfrm>
          <a:prstGeom prst="rect">
            <a:avLst/>
          </a:prstGeom>
          <a:noFill/>
          <a:ln/>
        </p:spPr>
        <p:txBody>
          <a:bodyPr wrap="square" lIns="0" tIns="0" rIns="0" bIns="0" rtlCol="0" anchor="ctr"/>
          <a:lstStyle/>
          <a:p>
            <a:pPr indent="0" marL="0">
              <a:lnSpc>
                <a:spcPct val="125000"/>
              </a:lnSpc>
              <a:buNone/>
            </a:pPr>
            <a:r>
              <a:rPr lang="en-US" sz="1400" b="1" dirty="0">
                <a:solidFill>
                  <a:srgbClr val="1B1B2F"/>
                </a:solidFill>
                <a:latin typeface="Calibri" pitchFamily="34" charset="0"/>
                <a:ea typeface="Calibri" pitchFamily="34" charset="-122"/>
                <a:cs typeface="Calibri" pitchFamily="34" charset="-120"/>
              </a:rPr>
              <a:t>Behavioral Data</a:t>
            </a:r>
            <a:endParaRPr lang="en-US" sz="1400" dirty="0"/>
          </a:p>
          <a:p>
            <a:pPr indent="0" marL="0">
              <a:lnSpc>
                <a:spcPct val="125000"/>
              </a:lnSpc>
              <a:buNone/>
            </a:pPr>
            <a:r>
              <a:rPr lang="en-US" sz="1150" dirty="0">
                <a:solidFill>
                  <a:srgbClr val="4A4A6A"/>
                </a:solidFill>
                <a:latin typeface="Calibri" pitchFamily="34" charset="0"/>
                <a:ea typeface="Calibri" pitchFamily="34" charset="-122"/>
                <a:cs typeface="Calibri" pitchFamily="34" charset="-120"/>
              </a:rPr>
              <a:t>Every tap, swipe, like, share, comment, and pause is tracked</a:t>
            </a:r>
            <a:endParaRPr lang="en-US" sz="1400" dirty="0"/>
          </a:p>
        </p:txBody>
      </p:sp>
      <p:sp>
        <p:nvSpPr>
          <p:cNvPr id="6" name="Shape 3"/>
          <p:cNvSpPr/>
          <p:nvPr/>
        </p:nvSpPr>
        <p:spPr>
          <a:xfrm>
            <a:off x="548640" y="1947672"/>
            <a:ext cx="475488" cy="475488"/>
          </a:xfrm>
          <a:prstGeom prst="ellipse">
            <a:avLst/>
          </a:prstGeom>
          <a:solidFill>
            <a:srgbClr val="264653"/>
          </a:solidFill>
          <a:ln/>
        </p:spPr>
      </p:sp>
      <p:pic>
        <p:nvPicPr>
          <p:cNvPr id="7" name="Image 1" descr="preencoded.png">    </p:cNvPr>
          <p:cNvPicPr>
            <a:picLocks noChangeAspect="1"/>
          </p:cNvPicPr>
          <p:nvPr/>
        </p:nvPicPr>
        <p:blipFill>
          <a:blip r:embed="rId2"/>
          <a:stretch>
            <a:fillRect/>
          </a:stretch>
        </p:blipFill>
        <p:spPr>
          <a:xfrm>
            <a:off x="667512" y="2066544"/>
            <a:ext cx="237744" cy="237744"/>
          </a:xfrm>
          <a:prstGeom prst="rect">
            <a:avLst/>
          </a:prstGeom>
        </p:spPr>
      </p:pic>
      <p:sp>
        <p:nvSpPr>
          <p:cNvPr id="8" name="Text 4"/>
          <p:cNvSpPr txBox="1"/>
          <p:nvPr/>
        </p:nvSpPr>
        <p:spPr>
          <a:xfrm>
            <a:off x="1143000" y="1874520"/>
            <a:ext cx="3520440" cy="731520"/>
          </a:xfrm>
          <a:prstGeom prst="rect">
            <a:avLst/>
          </a:prstGeom>
          <a:noFill/>
          <a:ln/>
        </p:spPr>
        <p:txBody>
          <a:bodyPr wrap="square" lIns="0" tIns="0" rIns="0" bIns="0" rtlCol="0" anchor="ctr"/>
          <a:lstStyle/>
          <a:p>
            <a:pPr indent="0" marL="0">
              <a:lnSpc>
                <a:spcPct val="125000"/>
              </a:lnSpc>
              <a:buNone/>
            </a:pPr>
            <a:r>
              <a:rPr lang="en-US" sz="1400" b="1" dirty="0">
                <a:solidFill>
                  <a:srgbClr val="1B1B2F"/>
                </a:solidFill>
                <a:latin typeface="Calibri" pitchFamily="34" charset="0"/>
                <a:ea typeface="Calibri" pitchFamily="34" charset="-122"/>
                <a:cs typeface="Calibri" pitchFamily="34" charset="-120"/>
              </a:rPr>
              <a:t>Demographic Data</a:t>
            </a:r>
            <a:endParaRPr lang="en-US" sz="1400" dirty="0"/>
          </a:p>
          <a:p>
            <a:pPr indent="0" marL="0">
              <a:lnSpc>
                <a:spcPct val="125000"/>
              </a:lnSpc>
              <a:buNone/>
            </a:pPr>
            <a:r>
              <a:rPr lang="en-US" sz="1150" dirty="0">
                <a:solidFill>
                  <a:srgbClr val="4A4A6A"/>
                </a:solidFill>
                <a:latin typeface="Calibri" pitchFamily="34" charset="0"/>
                <a:ea typeface="Calibri" pitchFamily="34" charset="-122"/>
                <a:cs typeface="Calibri" pitchFamily="34" charset="-120"/>
              </a:rPr>
              <a:t>Age, gender, location, language, and education level</a:t>
            </a:r>
            <a:endParaRPr lang="en-US" sz="1400" dirty="0"/>
          </a:p>
        </p:txBody>
      </p:sp>
      <p:sp>
        <p:nvSpPr>
          <p:cNvPr id="9" name="Shape 5"/>
          <p:cNvSpPr/>
          <p:nvPr/>
        </p:nvSpPr>
        <p:spPr>
          <a:xfrm>
            <a:off x="548640" y="2816352"/>
            <a:ext cx="475488" cy="475488"/>
          </a:xfrm>
          <a:prstGeom prst="ellipse">
            <a:avLst/>
          </a:prstGeom>
          <a:solidFill>
            <a:srgbClr val="2A9D8F"/>
          </a:solidFill>
          <a:ln/>
        </p:spPr>
      </p:sp>
      <p:pic>
        <p:nvPicPr>
          <p:cNvPr id="10" name="Image 2" descr="preencoded.png">    </p:cNvPr>
          <p:cNvPicPr>
            <a:picLocks noChangeAspect="1"/>
          </p:cNvPicPr>
          <p:nvPr/>
        </p:nvPicPr>
        <p:blipFill>
          <a:blip r:embed="rId3"/>
          <a:stretch>
            <a:fillRect/>
          </a:stretch>
        </p:blipFill>
        <p:spPr>
          <a:xfrm>
            <a:off x="667512" y="2935224"/>
            <a:ext cx="237744" cy="237744"/>
          </a:xfrm>
          <a:prstGeom prst="rect">
            <a:avLst/>
          </a:prstGeom>
        </p:spPr>
      </p:pic>
      <p:sp>
        <p:nvSpPr>
          <p:cNvPr id="11" name="Text 6"/>
          <p:cNvSpPr txBox="1"/>
          <p:nvPr/>
        </p:nvSpPr>
        <p:spPr>
          <a:xfrm>
            <a:off x="1143000" y="2743200"/>
            <a:ext cx="3520440" cy="731520"/>
          </a:xfrm>
          <a:prstGeom prst="rect">
            <a:avLst/>
          </a:prstGeom>
          <a:noFill/>
          <a:ln/>
        </p:spPr>
        <p:txBody>
          <a:bodyPr wrap="square" lIns="0" tIns="0" rIns="0" bIns="0" rtlCol="0" anchor="ctr"/>
          <a:lstStyle/>
          <a:p>
            <a:pPr indent="0" marL="0">
              <a:lnSpc>
                <a:spcPct val="125000"/>
              </a:lnSpc>
              <a:buNone/>
            </a:pPr>
            <a:r>
              <a:rPr lang="en-US" sz="1400" b="1" dirty="0">
                <a:solidFill>
                  <a:srgbClr val="1B1B2F"/>
                </a:solidFill>
                <a:latin typeface="Calibri" pitchFamily="34" charset="0"/>
                <a:ea typeface="Calibri" pitchFamily="34" charset="-122"/>
                <a:cs typeface="Calibri" pitchFamily="34" charset="-120"/>
              </a:rPr>
              <a:t>Social Graph</a:t>
            </a:r>
            <a:endParaRPr lang="en-US" sz="1400" dirty="0"/>
          </a:p>
          <a:p>
            <a:pPr indent="0" marL="0">
              <a:lnSpc>
                <a:spcPct val="125000"/>
              </a:lnSpc>
              <a:buNone/>
            </a:pPr>
            <a:r>
              <a:rPr lang="en-US" sz="1150" dirty="0">
                <a:solidFill>
                  <a:srgbClr val="4A4A6A"/>
                </a:solidFill>
                <a:latin typeface="Calibri" pitchFamily="34" charset="0"/>
                <a:ea typeface="Calibri" pitchFamily="34" charset="-122"/>
                <a:cs typeface="Calibri" pitchFamily="34" charset="-120"/>
              </a:rPr>
              <a:t>Your connections, interactions, and group memberships</a:t>
            </a:r>
            <a:endParaRPr lang="en-US" sz="1400" dirty="0"/>
          </a:p>
        </p:txBody>
      </p:sp>
      <p:sp>
        <p:nvSpPr>
          <p:cNvPr id="12" name="Shape 7"/>
          <p:cNvSpPr/>
          <p:nvPr/>
        </p:nvSpPr>
        <p:spPr>
          <a:xfrm>
            <a:off x="548640" y="3685032"/>
            <a:ext cx="475488" cy="475488"/>
          </a:xfrm>
          <a:prstGeom prst="ellipse">
            <a:avLst/>
          </a:prstGeom>
          <a:solidFill>
            <a:srgbClr val="E63946"/>
          </a:solidFill>
          <a:ln/>
        </p:spPr>
      </p:sp>
      <p:pic>
        <p:nvPicPr>
          <p:cNvPr id="13" name="Image 3" descr="preencoded.png">    </p:cNvPr>
          <p:cNvPicPr>
            <a:picLocks noChangeAspect="1"/>
          </p:cNvPicPr>
          <p:nvPr/>
        </p:nvPicPr>
        <p:blipFill>
          <a:blip r:embed="rId4"/>
          <a:stretch>
            <a:fillRect/>
          </a:stretch>
        </p:blipFill>
        <p:spPr>
          <a:xfrm>
            <a:off x="667512" y="3803904"/>
            <a:ext cx="237744" cy="237744"/>
          </a:xfrm>
          <a:prstGeom prst="rect">
            <a:avLst/>
          </a:prstGeom>
        </p:spPr>
      </p:pic>
      <p:sp>
        <p:nvSpPr>
          <p:cNvPr id="14" name="Text 8"/>
          <p:cNvSpPr txBox="1"/>
          <p:nvPr/>
        </p:nvSpPr>
        <p:spPr>
          <a:xfrm>
            <a:off x="1143000" y="3611880"/>
            <a:ext cx="3520440" cy="731520"/>
          </a:xfrm>
          <a:prstGeom prst="rect">
            <a:avLst/>
          </a:prstGeom>
          <a:noFill/>
          <a:ln/>
        </p:spPr>
        <p:txBody>
          <a:bodyPr wrap="square" lIns="0" tIns="0" rIns="0" bIns="0" rtlCol="0" anchor="ctr"/>
          <a:lstStyle/>
          <a:p>
            <a:pPr indent="0" marL="0">
              <a:lnSpc>
                <a:spcPct val="125000"/>
              </a:lnSpc>
              <a:buNone/>
            </a:pPr>
            <a:r>
              <a:rPr lang="en-US" sz="1400" b="1" dirty="0">
                <a:solidFill>
                  <a:srgbClr val="1B1B2F"/>
                </a:solidFill>
                <a:latin typeface="Calibri" pitchFamily="34" charset="0"/>
                <a:ea typeface="Calibri" pitchFamily="34" charset="-122"/>
                <a:cs typeface="Calibri" pitchFamily="34" charset="-120"/>
              </a:rPr>
              <a:t>Content Analysis</a:t>
            </a:r>
            <a:endParaRPr lang="en-US" sz="1400" dirty="0"/>
          </a:p>
          <a:p>
            <a:pPr indent="0" marL="0">
              <a:lnSpc>
                <a:spcPct val="125000"/>
              </a:lnSpc>
              <a:buNone/>
            </a:pPr>
            <a:r>
              <a:rPr lang="en-US" sz="1150" dirty="0">
                <a:solidFill>
                  <a:srgbClr val="4A4A6A"/>
                </a:solidFill>
                <a:latin typeface="Calibri" pitchFamily="34" charset="0"/>
                <a:ea typeface="Calibri" pitchFamily="34" charset="-122"/>
                <a:cs typeface="Calibri" pitchFamily="34" charset="-120"/>
              </a:rPr>
              <a:t>Text, images, hashtags, and video analyzed by AI models</a:t>
            </a:r>
            <a:endParaRPr lang="en-US" sz="1400" dirty="0"/>
          </a:p>
        </p:txBody>
      </p:sp>
      <p:sp>
        <p:nvSpPr>
          <p:cNvPr id="15" name="Shape 9"/>
          <p:cNvSpPr/>
          <p:nvPr/>
        </p:nvSpPr>
        <p:spPr>
          <a:xfrm>
            <a:off x="5029200" y="1005840"/>
            <a:ext cx="3657600" cy="3291840"/>
          </a:xfrm>
          <a:prstGeom prst="roundRect">
            <a:avLst>
              <a:gd name="adj" fmla="val 4167"/>
            </a:avLst>
          </a:prstGeom>
          <a:solidFill>
            <a:srgbClr val="1B1B2F"/>
          </a:solidFill>
          <a:ln/>
        </p:spPr>
      </p:sp>
      <p:sp>
        <p:nvSpPr>
          <p:cNvPr id="16" name="Shape 10"/>
          <p:cNvSpPr/>
          <p:nvPr/>
        </p:nvSpPr>
        <p:spPr>
          <a:xfrm>
            <a:off x="5303520" y="1280160"/>
            <a:ext cx="548640" cy="548640"/>
          </a:xfrm>
          <a:prstGeom prst="ellipse">
            <a:avLst/>
          </a:prstGeom>
          <a:solidFill>
            <a:srgbClr val="E63946"/>
          </a:solidFill>
          <a:ln/>
        </p:spPr>
      </p:sp>
      <p:pic>
        <p:nvPicPr>
          <p:cNvPr id="17" name="Image 4" descr="preencoded.png">    </p:cNvPr>
          <p:cNvPicPr>
            <a:picLocks noChangeAspect="1"/>
          </p:cNvPicPr>
          <p:nvPr/>
        </p:nvPicPr>
        <p:blipFill>
          <a:blip r:embed="rId5"/>
          <a:stretch>
            <a:fillRect/>
          </a:stretch>
        </p:blipFill>
        <p:spPr>
          <a:xfrm>
            <a:off x="5440680" y="1417320"/>
            <a:ext cx="274320" cy="274320"/>
          </a:xfrm>
          <a:prstGeom prst="rect">
            <a:avLst/>
          </a:prstGeom>
        </p:spPr>
      </p:pic>
      <p:sp>
        <p:nvSpPr>
          <p:cNvPr id="18" name="Text 11"/>
          <p:cNvSpPr txBox="1"/>
          <p:nvPr/>
        </p:nvSpPr>
        <p:spPr>
          <a:xfrm>
            <a:off x="5989320" y="1325880"/>
            <a:ext cx="24688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Core Concern</a:t>
            </a:r>
            <a:endParaRPr lang="en-US" sz="1800" dirty="0"/>
          </a:p>
        </p:txBody>
      </p:sp>
      <p:sp>
        <p:nvSpPr>
          <p:cNvPr id="19" name="Text 12"/>
          <p:cNvSpPr txBox="1"/>
          <p:nvPr/>
        </p:nvSpPr>
        <p:spPr>
          <a:xfrm>
            <a:off x="5303520" y="2011680"/>
            <a:ext cx="3108960" cy="2011680"/>
          </a:xfrm>
          <a:prstGeom prst="rect">
            <a:avLst/>
          </a:prstGeom>
          <a:noFill/>
          <a:ln/>
        </p:spPr>
        <p:txBody>
          <a:bodyPr wrap="square" lIns="0" tIns="0" rIns="0" bIns="0" rtlCol="0" anchor="t"/>
          <a:lstStyle/>
          <a:p>
            <a:pPr indent="0" marL="0">
              <a:lnSpc>
                <a:spcPct val="140000"/>
              </a:lnSpc>
              <a:buNone/>
            </a:pPr>
            <a:r>
              <a:rPr lang="en-US" sz="1300" b="1" dirty="0">
                <a:solidFill>
                  <a:srgbClr val="E63946"/>
                </a:solidFill>
                <a:latin typeface="Calibri" pitchFamily="34" charset="0"/>
                <a:ea typeface="Calibri" pitchFamily="34" charset="-122"/>
                <a:cs typeface="Calibri" pitchFamily="34" charset="-120"/>
              </a:rPr>
              <a:t>Training data reflects existing societal patterns and prejudices.</a:t>
            </a:r>
            <a:endParaRPr lang="en-US" sz="1300" dirty="0"/>
          </a:p>
          <a:p>
            <a:pPr indent="0" marL="0">
              <a:lnSpc>
                <a:spcPct val="140000"/>
              </a:lnSpc>
              <a:buNone/>
            </a:pPr>
            <a:endParaRPr lang="en-US" sz="1300" dirty="0"/>
          </a:p>
          <a:p>
            <a:pPr indent="0" marL="0">
              <a:lnSpc>
                <a:spcPct val="140000"/>
              </a:lnSpc>
              <a:buNone/>
            </a:pPr>
            <a:r>
              <a:rPr lang="en-US" sz="1200" dirty="0">
                <a:solidFill>
                  <a:srgbClr val="CCCCDD"/>
                </a:solidFill>
                <a:latin typeface="Calibri" pitchFamily="34" charset="0"/>
                <a:ea typeface="Calibri" pitchFamily="34" charset="-122"/>
                <a:cs typeface="Calibri" pitchFamily="34" charset="-120"/>
              </a:rPr>
              <a:t>If historical data contains biases — racial, gender, political, socioeconomic — the algorithm learns and amplifies those biases at massive scale.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Types of Algorithmic Bias</a:t>
            </a:r>
            <a:endParaRPr lang="en-US" sz="3200" dirty="0"/>
          </a:p>
        </p:txBody>
      </p:sp>
      <p:sp>
        <p:nvSpPr>
          <p:cNvPr id="3" name="Shape 1"/>
          <p:cNvSpPr/>
          <p:nvPr/>
        </p:nvSpPr>
        <p:spPr>
          <a:xfrm>
            <a:off x="365760" y="960120"/>
            <a:ext cx="2651760" cy="3383280"/>
          </a:xfrm>
          <a:prstGeom prst="roundRect">
            <a:avLst>
              <a:gd name="adj" fmla="val 4138"/>
            </a:avLst>
          </a:prstGeom>
          <a:solidFill>
            <a:srgbClr val="F0F0F5"/>
          </a:solidFill>
          <a:ln/>
          <a:effectLst>
            <a:outerShdw sx="100000" sy="100000" kx="0" ky="0" algn="bl" rotWithShape="0" blurRad="101600" dist="25400" dir="8100000">
              <a:srgbClr val="DDDDDD">
                <a:alpha val="25000"/>
              </a:srgbClr>
            </a:outerShdw>
          </a:effectLst>
        </p:spPr>
      </p:sp>
      <p:sp>
        <p:nvSpPr>
          <p:cNvPr id="4" name="Shape 2"/>
          <p:cNvSpPr/>
          <p:nvPr/>
        </p:nvSpPr>
        <p:spPr>
          <a:xfrm>
            <a:off x="1280160" y="1143000"/>
            <a:ext cx="731520" cy="731520"/>
          </a:xfrm>
          <a:prstGeom prst="ellipse">
            <a:avLst/>
          </a:prstGeom>
          <a:solidFill>
            <a:srgbClr val="E63946"/>
          </a:solidFill>
          <a:ln/>
        </p:spPr>
      </p:sp>
      <p:pic>
        <p:nvPicPr>
          <p:cNvPr id="5" name="Image 0" descr="preencoded.png">    </p:cNvPr>
          <p:cNvPicPr>
            <a:picLocks noChangeAspect="1"/>
          </p:cNvPicPr>
          <p:nvPr/>
        </p:nvPicPr>
        <p:blipFill>
          <a:blip r:embed="rId1"/>
          <a:stretch>
            <a:fillRect/>
          </a:stretch>
        </p:blipFill>
        <p:spPr>
          <a:xfrm>
            <a:off x="1463040" y="1325880"/>
            <a:ext cx="365760" cy="365760"/>
          </a:xfrm>
          <a:prstGeom prst="rect">
            <a:avLst/>
          </a:prstGeom>
        </p:spPr>
      </p:pic>
      <p:sp>
        <p:nvSpPr>
          <p:cNvPr id="6" name="Text 3"/>
          <p:cNvSpPr txBox="1"/>
          <p:nvPr/>
        </p:nvSpPr>
        <p:spPr>
          <a:xfrm>
            <a:off x="548640" y="2011680"/>
            <a:ext cx="2286000" cy="365760"/>
          </a:xfrm>
          <a:prstGeom prst="rect">
            <a:avLst/>
          </a:prstGeom>
          <a:noFill/>
          <a:ln/>
        </p:spPr>
        <p:txBody>
          <a:bodyPr wrap="square" lIns="0" tIns="0" rIns="0" bIns="0" rtlCol="0" anchor="ctr"/>
          <a:lstStyle/>
          <a:p>
            <a:pPr algn="ctr" indent="0" marL="0">
              <a:buNone/>
            </a:pPr>
            <a:r>
              <a:rPr lang="en-US" sz="1600" b="1" dirty="0">
                <a:solidFill>
                  <a:srgbClr val="E63946"/>
                </a:solidFill>
                <a:latin typeface="Cambria" pitchFamily="34" charset="0"/>
                <a:ea typeface="Cambria" pitchFamily="34" charset="-122"/>
                <a:cs typeface="Cambria" pitchFamily="34" charset="-120"/>
              </a:rPr>
              <a:t>Filter Bubble</a:t>
            </a:r>
            <a:endParaRPr lang="en-US" sz="1600" dirty="0"/>
          </a:p>
        </p:txBody>
      </p:sp>
      <p:sp>
        <p:nvSpPr>
          <p:cNvPr id="7" name="Text 4"/>
          <p:cNvSpPr txBox="1"/>
          <p:nvPr/>
        </p:nvSpPr>
        <p:spPr>
          <a:xfrm>
            <a:off x="548640" y="2423160"/>
            <a:ext cx="2286000" cy="1005840"/>
          </a:xfrm>
          <a:prstGeom prst="rect">
            <a:avLst/>
          </a:prstGeom>
          <a:noFill/>
          <a:ln/>
        </p:spPr>
        <p:txBody>
          <a:bodyPr wrap="square" lIns="0" tIns="0" rIns="0" bIns="0" rtlCol="0" anchor="ctr"/>
          <a:lstStyle/>
          <a:p>
            <a:pPr algn="ctr" indent="0" marL="0">
              <a:lnSpc>
                <a:spcPct val="130000"/>
              </a:lnSpc>
              <a:buNone/>
            </a:pPr>
            <a:r>
              <a:rPr lang="en-US" sz="1100" dirty="0">
                <a:solidFill>
                  <a:srgbClr val="4A4A6A"/>
                </a:solidFill>
                <a:latin typeface="Calibri" pitchFamily="34" charset="0"/>
                <a:ea typeface="Calibri" pitchFamily="34" charset="-122"/>
                <a:cs typeface="Calibri" pitchFamily="34" charset="-120"/>
              </a:rPr>
              <a:t>Shows content similar to past engagement, creating an information bubble with only confirming viewpoints.</a:t>
            </a:r>
            <a:endParaRPr lang="en-US" sz="1100" dirty="0"/>
          </a:p>
        </p:txBody>
      </p:sp>
      <p:sp>
        <p:nvSpPr>
          <p:cNvPr id="8" name="Text 5"/>
          <p:cNvSpPr txBox="1"/>
          <p:nvPr/>
        </p:nvSpPr>
        <p:spPr>
          <a:xfrm>
            <a:off x="548640" y="3474720"/>
            <a:ext cx="2286000" cy="685800"/>
          </a:xfrm>
          <a:prstGeom prst="rect">
            <a:avLst/>
          </a:prstGeom>
          <a:noFill/>
          <a:ln/>
        </p:spPr>
        <p:txBody>
          <a:bodyPr wrap="square" lIns="0" tIns="0" rIns="0" bIns="0" rtlCol="0" anchor="ctr"/>
          <a:lstStyle/>
          <a:p>
            <a:pPr algn="ctr" indent="0" marL="0">
              <a:lnSpc>
                <a:spcPct val="120000"/>
              </a:lnSpc>
              <a:buNone/>
            </a:pPr>
            <a:r>
              <a:rPr lang="en-US" sz="1000" i="1" dirty="0">
                <a:solidFill>
                  <a:srgbClr val="E63946"/>
                </a:solidFill>
                <a:latin typeface="Calibri" pitchFamily="34" charset="0"/>
                <a:ea typeface="Calibri" pitchFamily="34" charset="-122"/>
                <a:cs typeface="Calibri" pitchFamily="34" charset="-120"/>
              </a:rPr>
              <a:t>You think you see a balanced view — you're seeing a curated echo chamber.</a:t>
            </a:r>
            <a:endParaRPr lang="en-US" sz="1000" dirty="0"/>
          </a:p>
        </p:txBody>
      </p:sp>
      <p:sp>
        <p:nvSpPr>
          <p:cNvPr id="9" name="Shape 6"/>
          <p:cNvSpPr/>
          <p:nvPr/>
        </p:nvSpPr>
        <p:spPr>
          <a:xfrm>
            <a:off x="3246120" y="960120"/>
            <a:ext cx="2651760" cy="3383280"/>
          </a:xfrm>
          <a:prstGeom prst="roundRect">
            <a:avLst>
              <a:gd name="adj" fmla="val 4138"/>
            </a:avLst>
          </a:prstGeom>
          <a:solidFill>
            <a:srgbClr val="F0F0F5"/>
          </a:solidFill>
          <a:ln/>
          <a:effectLst>
            <a:outerShdw sx="100000" sy="100000" kx="0" ky="0" algn="bl" rotWithShape="0" blurRad="101600" dist="25400" dir="8100000">
              <a:srgbClr val="DDDDDD">
                <a:alpha val="25000"/>
              </a:srgbClr>
            </a:outerShdw>
          </a:effectLst>
        </p:spPr>
      </p:sp>
      <p:sp>
        <p:nvSpPr>
          <p:cNvPr id="10" name="Shape 7"/>
          <p:cNvSpPr/>
          <p:nvPr/>
        </p:nvSpPr>
        <p:spPr>
          <a:xfrm>
            <a:off x="4160520" y="1143000"/>
            <a:ext cx="731520" cy="731520"/>
          </a:xfrm>
          <a:prstGeom prst="ellipse">
            <a:avLst/>
          </a:prstGeom>
          <a:solidFill>
            <a:srgbClr val="264653"/>
          </a:solidFill>
          <a:ln/>
        </p:spPr>
      </p:sp>
      <p:pic>
        <p:nvPicPr>
          <p:cNvPr id="11" name="Image 1" descr="preencoded.png">    </p:cNvPr>
          <p:cNvPicPr>
            <a:picLocks noChangeAspect="1"/>
          </p:cNvPicPr>
          <p:nvPr/>
        </p:nvPicPr>
        <p:blipFill>
          <a:blip r:embed="rId2"/>
          <a:stretch>
            <a:fillRect/>
          </a:stretch>
        </p:blipFill>
        <p:spPr>
          <a:xfrm>
            <a:off x="4343400" y="1325880"/>
            <a:ext cx="365760" cy="365760"/>
          </a:xfrm>
          <a:prstGeom prst="rect">
            <a:avLst/>
          </a:prstGeom>
        </p:spPr>
      </p:pic>
      <p:sp>
        <p:nvSpPr>
          <p:cNvPr id="12" name="Text 8"/>
          <p:cNvSpPr txBox="1"/>
          <p:nvPr/>
        </p:nvSpPr>
        <p:spPr>
          <a:xfrm>
            <a:off x="3429000" y="2011680"/>
            <a:ext cx="2286000" cy="365760"/>
          </a:xfrm>
          <a:prstGeom prst="rect">
            <a:avLst/>
          </a:prstGeom>
          <a:noFill/>
          <a:ln/>
        </p:spPr>
        <p:txBody>
          <a:bodyPr wrap="square" lIns="0" tIns="0" rIns="0" bIns="0" rtlCol="0" anchor="ctr"/>
          <a:lstStyle/>
          <a:p>
            <a:pPr algn="ctr" indent="0" marL="0">
              <a:buNone/>
            </a:pPr>
            <a:r>
              <a:rPr lang="en-US" sz="1600" b="1" dirty="0">
                <a:solidFill>
                  <a:srgbClr val="264653"/>
                </a:solidFill>
                <a:latin typeface="Cambria" pitchFamily="34" charset="0"/>
                <a:ea typeface="Cambria" pitchFamily="34" charset="-122"/>
                <a:cs typeface="Cambria" pitchFamily="34" charset="-120"/>
              </a:rPr>
              <a:t>Engagement Bias</a:t>
            </a:r>
            <a:endParaRPr lang="en-US" sz="1600" dirty="0"/>
          </a:p>
        </p:txBody>
      </p:sp>
      <p:sp>
        <p:nvSpPr>
          <p:cNvPr id="13" name="Text 9"/>
          <p:cNvSpPr txBox="1"/>
          <p:nvPr/>
        </p:nvSpPr>
        <p:spPr>
          <a:xfrm>
            <a:off x="3429000" y="2423160"/>
            <a:ext cx="2286000" cy="1005840"/>
          </a:xfrm>
          <a:prstGeom prst="rect">
            <a:avLst/>
          </a:prstGeom>
          <a:noFill/>
          <a:ln/>
        </p:spPr>
        <p:txBody>
          <a:bodyPr wrap="square" lIns="0" tIns="0" rIns="0" bIns="0" rtlCol="0" anchor="ctr"/>
          <a:lstStyle/>
          <a:p>
            <a:pPr algn="ctr" indent="0" marL="0">
              <a:lnSpc>
                <a:spcPct val="130000"/>
              </a:lnSpc>
              <a:buNone/>
            </a:pPr>
            <a:r>
              <a:rPr lang="en-US" sz="1100" dirty="0">
                <a:solidFill>
                  <a:srgbClr val="4A4A6A"/>
                </a:solidFill>
                <a:latin typeface="Calibri" pitchFamily="34" charset="0"/>
                <a:ea typeface="Calibri" pitchFamily="34" charset="-122"/>
                <a:cs typeface="Calibri" pitchFamily="34" charset="-120"/>
              </a:rPr>
              <a:t>Prioritizes content generating strong emotional reactions — outrage, fear, anger — over balanced information.</a:t>
            </a:r>
            <a:endParaRPr lang="en-US" sz="1100" dirty="0"/>
          </a:p>
        </p:txBody>
      </p:sp>
      <p:sp>
        <p:nvSpPr>
          <p:cNvPr id="14" name="Text 10"/>
          <p:cNvSpPr txBox="1"/>
          <p:nvPr/>
        </p:nvSpPr>
        <p:spPr>
          <a:xfrm>
            <a:off x="3429000" y="3474720"/>
            <a:ext cx="2286000" cy="685800"/>
          </a:xfrm>
          <a:prstGeom prst="rect">
            <a:avLst/>
          </a:prstGeom>
          <a:noFill/>
          <a:ln/>
        </p:spPr>
        <p:txBody>
          <a:bodyPr wrap="square" lIns="0" tIns="0" rIns="0" bIns="0" rtlCol="0" anchor="ctr"/>
          <a:lstStyle/>
          <a:p>
            <a:pPr algn="ctr" indent="0" marL="0">
              <a:lnSpc>
                <a:spcPct val="120000"/>
              </a:lnSpc>
              <a:buNone/>
            </a:pPr>
            <a:r>
              <a:rPr lang="en-US" sz="1000" i="1" dirty="0">
                <a:solidFill>
                  <a:srgbClr val="264653"/>
                </a:solidFill>
                <a:latin typeface="Calibri" pitchFamily="34" charset="0"/>
                <a:ea typeface="Calibri" pitchFamily="34" charset="-122"/>
                <a:cs typeface="Calibri" pitchFamily="34" charset="-120"/>
              </a:rPr>
              <a:t>Sensational content is boosted; thoughtful, moderate content gets buried.</a:t>
            </a:r>
            <a:endParaRPr lang="en-US" sz="1000" dirty="0"/>
          </a:p>
        </p:txBody>
      </p:sp>
      <p:sp>
        <p:nvSpPr>
          <p:cNvPr id="15" name="Shape 11"/>
          <p:cNvSpPr/>
          <p:nvPr/>
        </p:nvSpPr>
        <p:spPr>
          <a:xfrm>
            <a:off x="6126480" y="960120"/>
            <a:ext cx="2651760" cy="3383280"/>
          </a:xfrm>
          <a:prstGeom prst="roundRect">
            <a:avLst>
              <a:gd name="adj" fmla="val 4138"/>
            </a:avLst>
          </a:prstGeom>
          <a:solidFill>
            <a:srgbClr val="F0F0F5"/>
          </a:solidFill>
          <a:ln/>
          <a:effectLst>
            <a:outerShdw sx="100000" sy="100000" kx="0" ky="0" algn="bl" rotWithShape="0" blurRad="101600" dist="25400" dir="8100000">
              <a:srgbClr val="DDDDDD">
                <a:alpha val="25000"/>
              </a:srgbClr>
            </a:outerShdw>
          </a:effectLst>
        </p:spPr>
      </p:sp>
      <p:sp>
        <p:nvSpPr>
          <p:cNvPr id="16" name="Shape 12"/>
          <p:cNvSpPr/>
          <p:nvPr/>
        </p:nvSpPr>
        <p:spPr>
          <a:xfrm>
            <a:off x="7040880" y="1143000"/>
            <a:ext cx="731520" cy="731520"/>
          </a:xfrm>
          <a:prstGeom prst="ellipse">
            <a:avLst/>
          </a:prstGeom>
          <a:solidFill>
            <a:srgbClr val="2A9D8F"/>
          </a:solidFill>
          <a:ln/>
        </p:spPr>
      </p:sp>
      <p:pic>
        <p:nvPicPr>
          <p:cNvPr id="17" name="Image 2" descr="preencoded.png">    </p:cNvPr>
          <p:cNvPicPr>
            <a:picLocks noChangeAspect="1"/>
          </p:cNvPicPr>
          <p:nvPr/>
        </p:nvPicPr>
        <p:blipFill>
          <a:blip r:embed="rId3"/>
          <a:stretch>
            <a:fillRect/>
          </a:stretch>
        </p:blipFill>
        <p:spPr>
          <a:xfrm>
            <a:off x="7223760" y="1325880"/>
            <a:ext cx="365760" cy="365760"/>
          </a:xfrm>
          <a:prstGeom prst="rect">
            <a:avLst/>
          </a:prstGeom>
        </p:spPr>
      </p:pic>
      <p:sp>
        <p:nvSpPr>
          <p:cNvPr id="18" name="Text 13"/>
          <p:cNvSpPr txBox="1"/>
          <p:nvPr/>
        </p:nvSpPr>
        <p:spPr>
          <a:xfrm>
            <a:off x="6309360" y="2011680"/>
            <a:ext cx="2286000" cy="365760"/>
          </a:xfrm>
          <a:prstGeom prst="rect">
            <a:avLst/>
          </a:prstGeom>
          <a:noFill/>
          <a:ln/>
        </p:spPr>
        <p:txBody>
          <a:bodyPr wrap="square" lIns="0" tIns="0" rIns="0" bIns="0" rtlCol="0" anchor="ctr"/>
          <a:lstStyle/>
          <a:p>
            <a:pPr algn="ctr" indent="0" marL="0">
              <a:buNone/>
            </a:pPr>
            <a:r>
              <a:rPr lang="en-US" sz="1600" b="1" dirty="0">
                <a:solidFill>
                  <a:srgbClr val="2A9D8F"/>
                </a:solidFill>
                <a:latin typeface="Cambria" pitchFamily="34" charset="0"/>
                <a:ea typeface="Cambria" pitchFamily="34" charset="-122"/>
                <a:cs typeface="Cambria" pitchFamily="34" charset="-120"/>
              </a:rPr>
              <a:t>Representation Bias</a:t>
            </a:r>
            <a:endParaRPr lang="en-US" sz="1600" dirty="0"/>
          </a:p>
        </p:txBody>
      </p:sp>
      <p:sp>
        <p:nvSpPr>
          <p:cNvPr id="19" name="Text 14"/>
          <p:cNvSpPr txBox="1"/>
          <p:nvPr/>
        </p:nvSpPr>
        <p:spPr>
          <a:xfrm>
            <a:off x="6309360" y="2423160"/>
            <a:ext cx="2286000" cy="1005840"/>
          </a:xfrm>
          <a:prstGeom prst="rect">
            <a:avLst/>
          </a:prstGeom>
          <a:noFill/>
          <a:ln/>
        </p:spPr>
        <p:txBody>
          <a:bodyPr wrap="square" lIns="0" tIns="0" rIns="0" bIns="0" rtlCol="0" anchor="ctr"/>
          <a:lstStyle/>
          <a:p>
            <a:pPr algn="ctr" indent="0" marL="0">
              <a:lnSpc>
                <a:spcPct val="130000"/>
              </a:lnSpc>
              <a:buNone/>
            </a:pPr>
            <a:r>
              <a:rPr lang="en-US" sz="1100" dirty="0">
                <a:solidFill>
                  <a:srgbClr val="4A4A6A"/>
                </a:solidFill>
                <a:latin typeface="Calibri" pitchFamily="34" charset="0"/>
                <a:ea typeface="Calibri" pitchFamily="34" charset="-122"/>
                <a:cs typeface="Calibri" pitchFamily="34" charset="-120"/>
              </a:rPr>
              <a:t>Training data underrepresents certain demographics, causing unequal visibility and higher suppression rates.</a:t>
            </a:r>
            <a:endParaRPr lang="en-US" sz="1100" dirty="0"/>
          </a:p>
        </p:txBody>
      </p:sp>
      <p:sp>
        <p:nvSpPr>
          <p:cNvPr id="20" name="Text 15"/>
          <p:cNvSpPr txBox="1"/>
          <p:nvPr/>
        </p:nvSpPr>
        <p:spPr>
          <a:xfrm>
            <a:off x="6309360" y="3474720"/>
            <a:ext cx="2286000" cy="685800"/>
          </a:xfrm>
          <a:prstGeom prst="rect">
            <a:avLst/>
          </a:prstGeom>
          <a:noFill/>
          <a:ln/>
        </p:spPr>
        <p:txBody>
          <a:bodyPr wrap="square" lIns="0" tIns="0" rIns="0" bIns="0" rtlCol="0" anchor="ctr"/>
          <a:lstStyle/>
          <a:p>
            <a:pPr algn="ctr" indent="0" marL="0">
              <a:lnSpc>
                <a:spcPct val="120000"/>
              </a:lnSpc>
              <a:buNone/>
            </a:pPr>
            <a:r>
              <a:rPr lang="en-US" sz="1000" i="1" dirty="0">
                <a:solidFill>
                  <a:srgbClr val="2A9D8F"/>
                </a:solidFill>
                <a:latin typeface="Calibri" pitchFamily="34" charset="0"/>
                <a:ea typeface="Calibri" pitchFamily="34" charset="-122"/>
                <a:cs typeface="Calibri" pitchFamily="34" charset="-120"/>
              </a:rPr>
              <a:t>Minority voices are suppressed while mainstream content is amplified.</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Real-World Impact of Algorithmic Bias</a:t>
            </a:r>
            <a:endParaRPr lang="en-US" sz="3200" dirty="0"/>
          </a:p>
        </p:txBody>
      </p:sp>
      <p:sp>
        <p:nvSpPr>
          <p:cNvPr id="3" name="Shape 1"/>
          <p:cNvSpPr/>
          <p:nvPr/>
        </p:nvSpPr>
        <p:spPr>
          <a:xfrm>
            <a:off x="548640" y="1005840"/>
            <a:ext cx="3931920" cy="1280160"/>
          </a:xfrm>
          <a:prstGeom prst="roundRect">
            <a:avLst>
              <a:gd name="adj" fmla="val 8571"/>
            </a:avLst>
          </a:prstGeom>
          <a:solidFill>
            <a:srgbClr val="E63946"/>
          </a:solidFill>
          <a:ln/>
        </p:spPr>
      </p:sp>
      <p:sp>
        <p:nvSpPr>
          <p:cNvPr id="4" name="Text 2"/>
          <p:cNvSpPr txBox="1"/>
          <p:nvPr/>
        </p:nvSpPr>
        <p:spPr>
          <a:xfrm>
            <a:off x="731520" y="1051560"/>
            <a:ext cx="137160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64%</a:t>
            </a:r>
            <a:endParaRPr lang="en-US" sz="4800" dirty="0"/>
          </a:p>
        </p:txBody>
      </p:sp>
      <p:sp>
        <p:nvSpPr>
          <p:cNvPr id="5" name="Text 3"/>
          <p:cNvSpPr txBox="1"/>
          <p:nvPr/>
        </p:nvSpPr>
        <p:spPr>
          <a:xfrm>
            <a:off x="2194560" y="1097280"/>
            <a:ext cx="2103120" cy="1097280"/>
          </a:xfrm>
          <a:prstGeom prst="rect">
            <a:avLst/>
          </a:prstGeom>
          <a:noFill/>
          <a:ln/>
        </p:spPr>
        <p:txBody>
          <a:bodyPr wrap="square" lIns="0" tIns="0" rIns="0" bIns="0" rtlCol="0" anchor="ctr"/>
          <a:lstStyle/>
          <a:p>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Political Radicalization</a:t>
            </a:r>
            <a:endParaRPr lang="en-US" sz="1400" dirty="0"/>
          </a:p>
          <a:p>
            <a:pPr indent="0" marL="0">
              <a:lnSpc>
                <a:spcPct val="130000"/>
              </a:lnSpc>
              <a:buNone/>
            </a:pPr>
            <a:r>
              <a:rPr lang="en-US" sz="1100" dirty="0">
                <a:solidFill>
                  <a:srgbClr val="FFD0D5"/>
                </a:solidFill>
                <a:latin typeface="Calibri" pitchFamily="34" charset="0"/>
                <a:ea typeface="Calibri" pitchFamily="34" charset="-122"/>
                <a:cs typeface="Calibri" pitchFamily="34" charset="-120"/>
              </a:rPr>
              <a:t>of people who joined extremist groups on Facebook were led there by the recommendation algorithm</a:t>
            </a:r>
            <a:endParaRPr lang="en-US" sz="1400" dirty="0"/>
          </a:p>
        </p:txBody>
      </p:sp>
      <p:sp>
        <p:nvSpPr>
          <p:cNvPr id="6" name="Shape 4"/>
          <p:cNvSpPr/>
          <p:nvPr/>
        </p:nvSpPr>
        <p:spPr>
          <a:xfrm>
            <a:off x="548640" y="2468880"/>
            <a:ext cx="3931920" cy="1280160"/>
          </a:xfrm>
          <a:prstGeom prst="roundRect">
            <a:avLst>
              <a:gd name="adj" fmla="val 8571"/>
            </a:avLst>
          </a:prstGeom>
          <a:solidFill>
            <a:srgbClr val="264653"/>
          </a:solidFill>
          <a:ln/>
        </p:spPr>
      </p:sp>
      <p:sp>
        <p:nvSpPr>
          <p:cNvPr id="7" name="Text 5"/>
          <p:cNvSpPr txBox="1"/>
          <p:nvPr/>
        </p:nvSpPr>
        <p:spPr>
          <a:xfrm>
            <a:off x="731520" y="2514600"/>
            <a:ext cx="137160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6×</a:t>
            </a:r>
            <a:endParaRPr lang="en-US" sz="4800" dirty="0"/>
          </a:p>
        </p:txBody>
      </p:sp>
      <p:sp>
        <p:nvSpPr>
          <p:cNvPr id="8" name="Text 6"/>
          <p:cNvSpPr txBox="1"/>
          <p:nvPr/>
        </p:nvSpPr>
        <p:spPr>
          <a:xfrm>
            <a:off x="2194560" y="2560320"/>
            <a:ext cx="2103120" cy="1097280"/>
          </a:xfrm>
          <a:prstGeom prst="rect">
            <a:avLst/>
          </a:prstGeom>
          <a:noFill/>
          <a:ln/>
        </p:spPr>
        <p:txBody>
          <a:bodyPr wrap="square" lIns="0" tIns="0" rIns="0" bIns="0" rtlCol="0" anchor="ctr"/>
          <a:lstStyle/>
          <a:p>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Misinformation Spread</a:t>
            </a:r>
            <a:endParaRPr lang="en-US" sz="1400" dirty="0"/>
          </a:p>
          <a:p>
            <a:pPr indent="0" marL="0">
              <a:lnSpc>
                <a:spcPct val="130000"/>
              </a:lnSpc>
              <a:buNone/>
            </a:pPr>
            <a:r>
              <a:rPr lang="en-US" sz="1100" dirty="0">
                <a:solidFill>
                  <a:srgbClr val="B8D4E3"/>
                </a:solidFill>
                <a:latin typeface="Calibri" pitchFamily="34" charset="0"/>
                <a:ea typeface="Calibri" pitchFamily="34" charset="-122"/>
                <a:cs typeface="Calibri" pitchFamily="34" charset="-120"/>
              </a:rPr>
              <a:t>False news spreads six times faster than true news on social media (MIT, 2018)</a:t>
            </a:r>
            <a:endParaRPr lang="en-US" sz="1400" dirty="0"/>
          </a:p>
        </p:txBody>
      </p:sp>
      <p:sp>
        <p:nvSpPr>
          <p:cNvPr id="9" name="Text 7"/>
          <p:cNvSpPr txBox="1"/>
          <p:nvPr/>
        </p:nvSpPr>
        <p:spPr>
          <a:xfrm>
            <a:off x="4846320" y="1005840"/>
            <a:ext cx="3840480" cy="320040"/>
          </a:xfrm>
          <a:prstGeom prst="rect">
            <a:avLst/>
          </a:prstGeom>
          <a:noFill/>
          <a:ln/>
        </p:spPr>
        <p:txBody>
          <a:bodyPr wrap="square" lIns="0" tIns="0" rIns="0" bIns="0" rtlCol="0" anchor="ctr"/>
          <a:lstStyle/>
          <a:p>
            <a:pPr indent="0" marL="0">
              <a:buNone/>
            </a:pPr>
            <a:r>
              <a:rPr lang="en-US" sz="1600" b="1" dirty="0">
                <a:solidFill>
                  <a:srgbClr val="1B1B2F"/>
                </a:solidFill>
                <a:latin typeface="Cambria" pitchFamily="34" charset="0"/>
                <a:ea typeface="Cambria" pitchFamily="34" charset="-122"/>
                <a:cs typeface="Cambria" pitchFamily="34" charset="-120"/>
              </a:rPr>
              <a:t>Areas of Concern</a:t>
            </a:r>
            <a:endParaRPr lang="en-US" sz="1600" dirty="0"/>
          </a:p>
        </p:txBody>
      </p:sp>
      <p:sp>
        <p:nvSpPr>
          <p:cNvPr id="10" name="Shape 8"/>
          <p:cNvSpPr/>
          <p:nvPr/>
        </p:nvSpPr>
        <p:spPr>
          <a:xfrm>
            <a:off x="4846320" y="1508760"/>
            <a:ext cx="457200" cy="457200"/>
          </a:xfrm>
          <a:prstGeom prst="ellipse">
            <a:avLst/>
          </a:prstGeom>
          <a:solidFill>
            <a:srgbClr val="E63946"/>
          </a:solidFill>
          <a:ln/>
        </p:spPr>
      </p:sp>
      <p:pic>
        <p:nvPicPr>
          <p:cNvPr id="11" name="Image 0" descr="preencoded.png">    </p:cNvPr>
          <p:cNvPicPr>
            <a:picLocks noChangeAspect="1"/>
          </p:cNvPicPr>
          <p:nvPr/>
        </p:nvPicPr>
        <p:blipFill>
          <a:blip r:embed="rId1"/>
          <a:stretch>
            <a:fillRect/>
          </a:stretch>
        </p:blipFill>
        <p:spPr>
          <a:xfrm>
            <a:off x="4960620" y="1623060"/>
            <a:ext cx="228600" cy="228600"/>
          </a:xfrm>
          <a:prstGeom prst="rect">
            <a:avLst/>
          </a:prstGeom>
        </p:spPr>
      </p:pic>
      <p:sp>
        <p:nvSpPr>
          <p:cNvPr id="12" name="Text 9"/>
          <p:cNvSpPr txBox="1"/>
          <p:nvPr/>
        </p:nvSpPr>
        <p:spPr>
          <a:xfrm>
            <a:off x="5440680" y="1463040"/>
            <a:ext cx="3200400" cy="777240"/>
          </a:xfrm>
          <a:prstGeom prst="rect">
            <a:avLst/>
          </a:prstGeom>
          <a:noFill/>
          <a:ln/>
        </p:spPr>
        <p:txBody>
          <a:bodyPr wrap="square" lIns="0" tIns="0" rIns="0" bIns="0" rtlCol="0" anchor="t"/>
          <a:lstStyle/>
          <a:p>
            <a:pPr indent="0" marL="0">
              <a:lnSpc>
                <a:spcPct val="120000"/>
              </a:lnSpc>
              <a:buNone/>
            </a:pPr>
            <a:r>
              <a:rPr lang="en-US" sz="1300" b="1" dirty="0">
                <a:solidFill>
                  <a:srgbClr val="1B1B2F"/>
                </a:solidFill>
                <a:latin typeface="Calibri" pitchFamily="34" charset="0"/>
                <a:ea typeface="Calibri" pitchFamily="34" charset="-122"/>
                <a:cs typeface="Calibri" pitchFamily="34" charset="-120"/>
              </a:rPr>
              <a:t>Mental Health</a:t>
            </a:r>
            <a:endParaRPr lang="en-US" sz="1300" dirty="0"/>
          </a:p>
          <a:p>
            <a:pPr indent="0" marL="0">
              <a:lnSpc>
                <a:spcPct val="120000"/>
              </a:lnSpc>
              <a:buNone/>
            </a:pPr>
            <a:r>
              <a:rPr lang="en-US" sz="1050" dirty="0">
                <a:solidFill>
                  <a:srgbClr val="4A4A6A"/>
                </a:solidFill>
                <a:latin typeface="Calibri" pitchFamily="34" charset="0"/>
                <a:ea typeface="Calibri" pitchFamily="34" charset="-122"/>
                <a:cs typeface="Calibri" pitchFamily="34" charset="-120"/>
              </a:rPr>
              <a:t>Instagram's own research found its algorithm worsens body image issues, especially among teenage girls</a:t>
            </a:r>
            <a:endParaRPr lang="en-US" sz="1300" dirty="0"/>
          </a:p>
        </p:txBody>
      </p:sp>
      <p:sp>
        <p:nvSpPr>
          <p:cNvPr id="13" name="Shape 10"/>
          <p:cNvSpPr/>
          <p:nvPr/>
        </p:nvSpPr>
        <p:spPr>
          <a:xfrm>
            <a:off x="4846320" y="2377440"/>
            <a:ext cx="457200" cy="457200"/>
          </a:xfrm>
          <a:prstGeom prst="ellipse">
            <a:avLst/>
          </a:prstGeom>
          <a:solidFill>
            <a:srgbClr val="264653"/>
          </a:solidFill>
          <a:ln/>
        </p:spPr>
      </p:sp>
      <p:pic>
        <p:nvPicPr>
          <p:cNvPr id="14" name="Image 1" descr="preencoded.png">    </p:cNvPr>
          <p:cNvPicPr>
            <a:picLocks noChangeAspect="1"/>
          </p:cNvPicPr>
          <p:nvPr/>
        </p:nvPicPr>
        <p:blipFill>
          <a:blip r:embed="rId2"/>
          <a:stretch>
            <a:fillRect/>
          </a:stretch>
        </p:blipFill>
        <p:spPr>
          <a:xfrm>
            <a:off x="4960620" y="2491740"/>
            <a:ext cx="228600" cy="228600"/>
          </a:xfrm>
          <a:prstGeom prst="rect">
            <a:avLst/>
          </a:prstGeom>
        </p:spPr>
      </p:pic>
      <p:sp>
        <p:nvSpPr>
          <p:cNvPr id="15" name="Text 11"/>
          <p:cNvSpPr txBox="1"/>
          <p:nvPr/>
        </p:nvSpPr>
        <p:spPr>
          <a:xfrm>
            <a:off x="5440680" y="2331720"/>
            <a:ext cx="3200400" cy="777240"/>
          </a:xfrm>
          <a:prstGeom prst="rect">
            <a:avLst/>
          </a:prstGeom>
          <a:noFill/>
          <a:ln/>
        </p:spPr>
        <p:txBody>
          <a:bodyPr wrap="square" lIns="0" tIns="0" rIns="0" bIns="0" rtlCol="0" anchor="t"/>
          <a:lstStyle/>
          <a:p>
            <a:pPr indent="0" marL="0">
              <a:lnSpc>
                <a:spcPct val="120000"/>
              </a:lnSpc>
              <a:buNone/>
            </a:pPr>
            <a:r>
              <a:rPr lang="en-US" sz="1300" b="1" dirty="0">
                <a:solidFill>
                  <a:srgbClr val="1B1B2F"/>
                </a:solidFill>
                <a:latin typeface="Calibri" pitchFamily="34" charset="0"/>
                <a:ea typeface="Calibri" pitchFamily="34" charset="-122"/>
                <a:cs typeface="Calibri" pitchFamily="34" charset="-120"/>
              </a:rPr>
              <a:t>Political Polarization</a:t>
            </a:r>
            <a:endParaRPr lang="en-US" sz="1300" dirty="0"/>
          </a:p>
          <a:p>
            <a:pPr indent="0" marL="0">
              <a:lnSpc>
                <a:spcPct val="120000"/>
              </a:lnSpc>
              <a:buNone/>
            </a:pPr>
            <a:r>
              <a:rPr lang="en-US" sz="1050" dirty="0">
                <a:solidFill>
                  <a:srgbClr val="4A4A6A"/>
                </a:solidFill>
                <a:latin typeface="Calibri" pitchFamily="34" charset="0"/>
                <a:ea typeface="Calibri" pitchFamily="34" charset="-122"/>
                <a:cs typeface="Calibri" pitchFamily="34" charset="-120"/>
              </a:rPr>
              <a:t>Filter bubbles create separate realities where opposing sides see completely different information</a:t>
            </a:r>
            <a:endParaRPr lang="en-US" sz="1300" dirty="0"/>
          </a:p>
        </p:txBody>
      </p:sp>
      <p:sp>
        <p:nvSpPr>
          <p:cNvPr id="16" name="Shape 12"/>
          <p:cNvSpPr/>
          <p:nvPr/>
        </p:nvSpPr>
        <p:spPr>
          <a:xfrm>
            <a:off x="4846320" y="3246120"/>
            <a:ext cx="457200" cy="457200"/>
          </a:xfrm>
          <a:prstGeom prst="ellipse">
            <a:avLst/>
          </a:prstGeom>
          <a:solidFill>
            <a:srgbClr val="2A9D8F"/>
          </a:solidFill>
          <a:ln/>
        </p:spPr>
      </p:sp>
      <p:pic>
        <p:nvPicPr>
          <p:cNvPr id="17" name="Image 2" descr="preencoded.png">    </p:cNvPr>
          <p:cNvPicPr>
            <a:picLocks noChangeAspect="1"/>
          </p:cNvPicPr>
          <p:nvPr/>
        </p:nvPicPr>
        <p:blipFill>
          <a:blip r:embed="rId3"/>
          <a:stretch>
            <a:fillRect/>
          </a:stretch>
        </p:blipFill>
        <p:spPr>
          <a:xfrm>
            <a:off x="4960620" y="3360420"/>
            <a:ext cx="228600" cy="228600"/>
          </a:xfrm>
          <a:prstGeom prst="rect">
            <a:avLst/>
          </a:prstGeom>
        </p:spPr>
      </p:pic>
      <p:sp>
        <p:nvSpPr>
          <p:cNvPr id="18" name="Text 13"/>
          <p:cNvSpPr txBox="1"/>
          <p:nvPr/>
        </p:nvSpPr>
        <p:spPr>
          <a:xfrm>
            <a:off x="5440680" y="3200400"/>
            <a:ext cx="3200400" cy="777240"/>
          </a:xfrm>
          <a:prstGeom prst="rect">
            <a:avLst/>
          </a:prstGeom>
          <a:noFill/>
          <a:ln/>
        </p:spPr>
        <p:txBody>
          <a:bodyPr wrap="square" lIns="0" tIns="0" rIns="0" bIns="0" rtlCol="0" anchor="t"/>
          <a:lstStyle/>
          <a:p>
            <a:pPr indent="0" marL="0">
              <a:lnSpc>
                <a:spcPct val="120000"/>
              </a:lnSpc>
              <a:buNone/>
            </a:pPr>
            <a:r>
              <a:rPr lang="en-US" sz="1300" b="1" dirty="0">
                <a:solidFill>
                  <a:srgbClr val="1B1B2F"/>
                </a:solidFill>
                <a:latin typeface="Calibri" pitchFamily="34" charset="0"/>
                <a:ea typeface="Calibri" pitchFamily="34" charset="-122"/>
                <a:cs typeface="Calibri" pitchFamily="34" charset="-120"/>
              </a:rPr>
              <a:t>Information Quality</a:t>
            </a:r>
            <a:endParaRPr lang="en-US" sz="1300" dirty="0"/>
          </a:p>
          <a:p>
            <a:pPr indent="0" marL="0">
              <a:lnSpc>
                <a:spcPct val="120000"/>
              </a:lnSpc>
              <a:buNone/>
            </a:pPr>
            <a:r>
              <a:rPr lang="en-US" sz="1050" dirty="0">
                <a:solidFill>
                  <a:srgbClr val="4A4A6A"/>
                </a:solidFill>
                <a:latin typeface="Calibri" pitchFamily="34" charset="0"/>
                <a:ea typeface="Calibri" pitchFamily="34" charset="-122"/>
                <a:cs typeface="Calibri" pitchFamily="34" charset="-120"/>
              </a:rPr>
              <a:t>Algorithmic amplification of sensational content degrades the quality of public discourse</a:t>
            </a:r>
            <a:endParaRPr lang="en-US" sz="1300" dirty="0"/>
          </a:p>
        </p:txBody>
      </p:sp>
      <p:sp>
        <p:nvSpPr>
          <p:cNvPr id="19" name="Text 14"/>
          <p:cNvSpPr txBox="1"/>
          <p:nvPr/>
        </p:nvSpPr>
        <p:spPr>
          <a:xfrm>
            <a:off x="548640" y="4114800"/>
            <a:ext cx="8046720" cy="274320"/>
          </a:xfrm>
          <a:prstGeom prst="rect">
            <a:avLst/>
          </a:prstGeom>
          <a:noFill/>
          <a:ln/>
        </p:spPr>
        <p:txBody>
          <a:bodyPr wrap="square" lIns="0" tIns="0" rIns="0" bIns="0" rtlCol="0" anchor="ctr"/>
          <a:lstStyle/>
          <a:p>
            <a:pPr algn="l" indent="0" marL="0">
              <a:buNone/>
            </a:pPr>
            <a:r>
              <a:rPr lang="en-US" sz="900" i="1" dirty="0">
                <a:solidFill>
                  <a:srgbClr val="999999"/>
                </a:solidFill>
                <a:latin typeface="Calibri" pitchFamily="34" charset="0"/>
                <a:ea typeface="Calibri" pitchFamily="34" charset="-122"/>
                <a:cs typeface="Calibri" pitchFamily="34" charset="-120"/>
              </a:rPr>
              <a:t>Sources: MIT Media Lab (2018), Wall Street Journal — Facebook Files (2021), Facebook Internal Research</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Our Algorithmic Audit: Key Findings</a:t>
            </a:r>
            <a:endParaRPr lang="en-US" sz="3200" dirty="0"/>
          </a:p>
        </p:txBody>
      </p:sp>
      <p:sp>
        <p:nvSpPr>
          <p:cNvPr id="3" name="Text 1"/>
          <p:cNvSpPr txBox="1"/>
          <p:nvPr/>
        </p:nvSpPr>
        <p:spPr>
          <a:xfrm>
            <a:off x="548640" y="822960"/>
            <a:ext cx="8046720" cy="320040"/>
          </a:xfrm>
          <a:prstGeom prst="rect">
            <a:avLst/>
          </a:prstGeom>
          <a:noFill/>
          <a:ln/>
        </p:spPr>
        <p:txBody>
          <a:bodyPr wrap="square" lIns="0" tIns="0" rIns="0" bIns="0" rtlCol="0" anchor="ctr"/>
          <a:lstStyle/>
          <a:p>
            <a:pPr algn="l" indent="0" marL="0">
              <a:buNone/>
            </a:pPr>
            <a:r>
              <a:rPr lang="en-US" sz="1200" b="1" i="1" dirty="0">
                <a:solidFill>
                  <a:srgbClr val="264653"/>
                </a:solidFill>
                <a:latin typeface="Calibri" pitchFamily="34" charset="0"/>
                <a:ea typeface="Calibri" pitchFamily="34" charset="-122"/>
                <a:cs typeface="Calibri" pitchFamily="34" charset="-120"/>
              </a:rPr>
              <a:t>Methodology: </a:t>
            </a:r>
            <a:pPr algn="l" indent="0" marL="0">
              <a:buNone/>
            </a:pPr>
            <a:r>
              <a:rPr lang="en-US" sz="1200" i="1" dirty="0">
                <a:solidFill>
                  <a:srgbClr val="4A4A6A"/>
                </a:solidFill>
                <a:latin typeface="Calibri" pitchFamily="34" charset="0"/>
                <a:ea typeface="Calibri" pitchFamily="34" charset="-122"/>
                <a:cs typeface="Calibri" pitchFamily="34" charset="-120"/>
              </a:rPr>
              <a:t>Two-week analysis of group members' social media feeds, combined with academic research review</a:t>
            </a:r>
            <a:endParaRPr lang="en-US" sz="1200" dirty="0"/>
          </a:p>
        </p:txBody>
      </p:sp>
      <p:sp>
        <p:nvSpPr>
          <p:cNvPr id="4" name="Shape 2"/>
          <p:cNvSpPr/>
          <p:nvPr/>
        </p:nvSpPr>
        <p:spPr>
          <a:xfrm>
            <a:off x="457200" y="1325880"/>
            <a:ext cx="3931920" cy="1280160"/>
          </a:xfrm>
          <a:prstGeom prst="roundRect">
            <a:avLst>
              <a:gd name="adj" fmla="val 7143"/>
            </a:avLst>
          </a:prstGeom>
          <a:solidFill>
            <a:srgbClr val="F0F0F5"/>
          </a:solidFill>
          <a:ln/>
          <a:effectLst>
            <a:outerShdw sx="100000" sy="100000" kx="0" ky="0" algn="bl" rotWithShape="0" blurRad="76200" dist="25400" dir="8100000">
              <a:srgbClr val="DDDDDD">
                <a:alpha val="20000"/>
              </a:srgbClr>
            </a:outerShdw>
          </a:effectLst>
        </p:spPr>
      </p:sp>
      <p:sp>
        <p:nvSpPr>
          <p:cNvPr id="5" name="Shape 3"/>
          <p:cNvSpPr/>
          <p:nvPr/>
        </p:nvSpPr>
        <p:spPr>
          <a:xfrm>
            <a:off x="594360" y="1463040"/>
            <a:ext cx="502920" cy="502920"/>
          </a:xfrm>
          <a:prstGeom prst="ellipse">
            <a:avLst/>
          </a:prstGeom>
          <a:solidFill>
            <a:srgbClr val="E63946"/>
          </a:solidFill>
          <a:ln/>
        </p:spPr>
      </p:sp>
      <p:pic>
        <p:nvPicPr>
          <p:cNvPr id="6" name="Image 0" descr="preencoded.png">    </p:cNvPr>
          <p:cNvPicPr>
            <a:picLocks noChangeAspect="1"/>
          </p:cNvPicPr>
          <p:nvPr/>
        </p:nvPicPr>
        <p:blipFill>
          <a:blip r:embed="rId1"/>
          <a:stretch>
            <a:fillRect/>
          </a:stretch>
        </p:blipFill>
        <p:spPr>
          <a:xfrm>
            <a:off x="720090" y="1588770"/>
            <a:ext cx="251460" cy="251460"/>
          </a:xfrm>
          <a:prstGeom prst="rect">
            <a:avLst/>
          </a:prstGeom>
        </p:spPr>
      </p:pic>
      <p:sp>
        <p:nvSpPr>
          <p:cNvPr id="7" name="Text 4"/>
          <p:cNvSpPr txBox="1"/>
          <p:nvPr/>
        </p:nvSpPr>
        <p:spPr>
          <a:xfrm>
            <a:off x="1188720" y="1417320"/>
            <a:ext cx="502920" cy="32004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691640" y="1417320"/>
            <a:ext cx="2377440" cy="320040"/>
          </a:xfrm>
          <a:prstGeom prst="rect">
            <a:avLst/>
          </a:prstGeom>
          <a:noFill/>
          <a:ln/>
        </p:spPr>
        <p:txBody>
          <a:bodyPr wrap="square" lIns="0" tIns="0" rIns="0" bIns="0" rtlCol="0" anchor="ctr"/>
          <a:lstStyle/>
          <a:p>
            <a:pPr indent="0" marL="0">
              <a:buNone/>
            </a:pPr>
            <a:r>
              <a:rPr lang="en-US" sz="1400" b="1" dirty="0">
                <a:solidFill>
                  <a:srgbClr val="1B1B2F"/>
                </a:solidFill>
                <a:latin typeface="Cambria" pitchFamily="34" charset="0"/>
                <a:ea typeface="Cambria" pitchFamily="34" charset="-122"/>
                <a:cs typeface="Cambria" pitchFamily="34" charset="-120"/>
              </a:rPr>
              <a:t>Content Homogeneity</a:t>
            </a:r>
            <a:endParaRPr lang="en-US" sz="1400" dirty="0"/>
          </a:p>
        </p:txBody>
      </p:sp>
      <p:sp>
        <p:nvSpPr>
          <p:cNvPr id="9" name="Text 6"/>
          <p:cNvSpPr txBox="1"/>
          <p:nvPr/>
        </p:nvSpPr>
        <p:spPr>
          <a:xfrm>
            <a:off x="1188720" y="1828800"/>
            <a:ext cx="2926080" cy="640080"/>
          </a:xfrm>
          <a:prstGeom prst="rect">
            <a:avLst/>
          </a:prstGeom>
          <a:noFill/>
          <a:ln/>
        </p:spPr>
        <p:txBody>
          <a:bodyPr wrap="square" lIns="0" tIns="0" rIns="0" bIns="0" rtlCol="0" anchor="ctr"/>
          <a:lstStyle/>
          <a:p>
            <a:pPr indent="0" marL="0">
              <a:lnSpc>
                <a:spcPct val="130000"/>
              </a:lnSpc>
              <a:buNone/>
            </a:pPr>
            <a:r>
              <a:rPr lang="en-US" sz="1150" dirty="0">
                <a:solidFill>
                  <a:srgbClr val="4A4A6A"/>
                </a:solidFill>
                <a:latin typeface="Calibri" pitchFamily="34" charset="0"/>
                <a:ea typeface="Calibri" pitchFamily="34" charset="-122"/>
                <a:cs typeface="Calibri" pitchFamily="34" charset="-120"/>
              </a:rPr>
              <a:t>After 3 days of engaging with one topic, over 70% of feed content related to that single topic</a:t>
            </a:r>
            <a:endParaRPr lang="en-US" sz="1150" dirty="0"/>
          </a:p>
        </p:txBody>
      </p:sp>
      <p:sp>
        <p:nvSpPr>
          <p:cNvPr id="10" name="Shape 7"/>
          <p:cNvSpPr/>
          <p:nvPr/>
        </p:nvSpPr>
        <p:spPr>
          <a:xfrm>
            <a:off x="4663440" y="1325880"/>
            <a:ext cx="3931920" cy="1280160"/>
          </a:xfrm>
          <a:prstGeom prst="roundRect">
            <a:avLst>
              <a:gd name="adj" fmla="val 7143"/>
            </a:avLst>
          </a:prstGeom>
          <a:solidFill>
            <a:srgbClr val="F0F0F5"/>
          </a:solidFill>
          <a:ln/>
          <a:effectLst>
            <a:outerShdw sx="100000" sy="100000" kx="0" ky="0" algn="bl" rotWithShape="0" blurRad="76200" dist="25400" dir="8100000">
              <a:srgbClr val="DDDDDD">
                <a:alpha val="20000"/>
              </a:srgbClr>
            </a:outerShdw>
          </a:effectLst>
        </p:spPr>
      </p:sp>
      <p:sp>
        <p:nvSpPr>
          <p:cNvPr id="11" name="Shape 8"/>
          <p:cNvSpPr/>
          <p:nvPr/>
        </p:nvSpPr>
        <p:spPr>
          <a:xfrm>
            <a:off x="4800600" y="1463040"/>
            <a:ext cx="502920" cy="502920"/>
          </a:xfrm>
          <a:prstGeom prst="ellipse">
            <a:avLst/>
          </a:prstGeom>
          <a:solidFill>
            <a:srgbClr val="E63946"/>
          </a:solidFill>
          <a:ln/>
        </p:spPr>
      </p:sp>
      <p:pic>
        <p:nvPicPr>
          <p:cNvPr id="12" name="Image 1" descr="preencoded.png">    </p:cNvPr>
          <p:cNvPicPr>
            <a:picLocks noChangeAspect="1"/>
          </p:cNvPicPr>
          <p:nvPr/>
        </p:nvPicPr>
        <p:blipFill>
          <a:blip r:embed="rId2"/>
          <a:stretch>
            <a:fillRect/>
          </a:stretch>
        </p:blipFill>
        <p:spPr>
          <a:xfrm>
            <a:off x="4926330" y="1588770"/>
            <a:ext cx="251460" cy="251460"/>
          </a:xfrm>
          <a:prstGeom prst="rect">
            <a:avLst/>
          </a:prstGeom>
        </p:spPr>
      </p:pic>
      <p:sp>
        <p:nvSpPr>
          <p:cNvPr id="13" name="Text 9"/>
          <p:cNvSpPr txBox="1"/>
          <p:nvPr/>
        </p:nvSpPr>
        <p:spPr>
          <a:xfrm>
            <a:off x="5394960" y="1417320"/>
            <a:ext cx="502920" cy="32004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02</a:t>
            </a:r>
            <a:endParaRPr lang="en-US" sz="2000" dirty="0"/>
          </a:p>
        </p:txBody>
      </p:sp>
      <p:sp>
        <p:nvSpPr>
          <p:cNvPr id="14" name="Text 10"/>
          <p:cNvSpPr txBox="1"/>
          <p:nvPr/>
        </p:nvSpPr>
        <p:spPr>
          <a:xfrm>
            <a:off x="5897880" y="1417320"/>
            <a:ext cx="2377440" cy="320040"/>
          </a:xfrm>
          <a:prstGeom prst="rect">
            <a:avLst/>
          </a:prstGeom>
          <a:noFill/>
          <a:ln/>
        </p:spPr>
        <p:txBody>
          <a:bodyPr wrap="square" lIns="0" tIns="0" rIns="0" bIns="0" rtlCol="0" anchor="ctr"/>
          <a:lstStyle/>
          <a:p>
            <a:pPr indent="0" marL="0">
              <a:buNone/>
            </a:pPr>
            <a:r>
              <a:rPr lang="en-US" sz="1400" b="1" dirty="0">
                <a:solidFill>
                  <a:srgbClr val="1B1B2F"/>
                </a:solidFill>
                <a:latin typeface="Cambria" pitchFamily="34" charset="0"/>
                <a:ea typeface="Cambria" pitchFamily="34" charset="-122"/>
                <a:cs typeface="Cambria" pitchFamily="34" charset="-120"/>
              </a:rPr>
              <a:t>Emotional Amplification</a:t>
            </a:r>
            <a:endParaRPr lang="en-US" sz="1400" dirty="0"/>
          </a:p>
        </p:txBody>
      </p:sp>
      <p:sp>
        <p:nvSpPr>
          <p:cNvPr id="15" name="Text 11"/>
          <p:cNvSpPr txBox="1"/>
          <p:nvPr/>
        </p:nvSpPr>
        <p:spPr>
          <a:xfrm>
            <a:off x="5394960" y="1828800"/>
            <a:ext cx="2926080" cy="640080"/>
          </a:xfrm>
          <a:prstGeom prst="rect">
            <a:avLst/>
          </a:prstGeom>
          <a:noFill/>
          <a:ln/>
        </p:spPr>
        <p:txBody>
          <a:bodyPr wrap="square" lIns="0" tIns="0" rIns="0" bIns="0" rtlCol="0" anchor="ctr"/>
          <a:lstStyle/>
          <a:p>
            <a:pPr indent="0" marL="0">
              <a:lnSpc>
                <a:spcPct val="130000"/>
              </a:lnSpc>
              <a:buNone/>
            </a:pPr>
            <a:r>
              <a:rPr lang="en-US" sz="1150" dirty="0">
                <a:solidFill>
                  <a:srgbClr val="4A4A6A"/>
                </a:solidFill>
                <a:latin typeface="Calibri" pitchFamily="34" charset="0"/>
                <a:ea typeface="Calibri" pitchFamily="34" charset="-122"/>
                <a:cs typeface="Calibri" pitchFamily="34" charset="-120"/>
              </a:rPr>
              <a:t>Posts with negative or outrage-inducing content appeared 3x more frequently than neutral content</a:t>
            </a:r>
            <a:endParaRPr lang="en-US" sz="1150" dirty="0"/>
          </a:p>
        </p:txBody>
      </p:sp>
      <p:sp>
        <p:nvSpPr>
          <p:cNvPr id="16" name="Shape 12"/>
          <p:cNvSpPr/>
          <p:nvPr/>
        </p:nvSpPr>
        <p:spPr>
          <a:xfrm>
            <a:off x="457200" y="2834640"/>
            <a:ext cx="3931920" cy="1280160"/>
          </a:xfrm>
          <a:prstGeom prst="roundRect">
            <a:avLst>
              <a:gd name="adj" fmla="val 7143"/>
            </a:avLst>
          </a:prstGeom>
          <a:solidFill>
            <a:srgbClr val="F0F0F5"/>
          </a:solidFill>
          <a:ln/>
          <a:effectLst>
            <a:outerShdw sx="100000" sy="100000" kx="0" ky="0" algn="bl" rotWithShape="0" blurRad="76200" dist="25400" dir="8100000">
              <a:srgbClr val="DDDDDD">
                <a:alpha val="20000"/>
              </a:srgbClr>
            </a:outerShdw>
          </a:effectLst>
        </p:spPr>
      </p:sp>
      <p:sp>
        <p:nvSpPr>
          <p:cNvPr id="17" name="Shape 13"/>
          <p:cNvSpPr/>
          <p:nvPr/>
        </p:nvSpPr>
        <p:spPr>
          <a:xfrm>
            <a:off x="594360" y="2971800"/>
            <a:ext cx="502920" cy="502920"/>
          </a:xfrm>
          <a:prstGeom prst="ellipse">
            <a:avLst/>
          </a:prstGeom>
          <a:solidFill>
            <a:srgbClr val="E9C46A"/>
          </a:solidFill>
          <a:ln/>
        </p:spPr>
      </p:sp>
      <p:pic>
        <p:nvPicPr>
          <p:cNvPr id="18" name="Image 2" descr="preencoded.png">    </p:cNvPr>
          <p:cNvPicPr>
            <a:picLocks noChangeAspect="1"/>
          </p:cNvPicPr>
          <p:nvPr/>
        </p:nvPicPr>
        <p:blipFill>
          <a:blip r:embed="rId3"/>
          <a:stretch>
            <a:fillRect/>
          </a:stretch>
        </p:blipFill>
        <p:spPr>
          <a:xfrm>
            <a:off x="720090" y="3097530"/>
            <a:ext cx="251460" cy="251460"/>
          </a:xfrm>
          <a:prstGeom prst="rect">
            <a:avLst/>
          </a:prstGeom>
        </p:spPr>
      </p:pic>
      <p:sp>
        <p:nvSpPr>
          <p:cNvPr id="19" name="Text 14"/>
          <p:cNvSpPr txBox="1"/>
          <p:nvPr/>
        </p:nvSpPr>
        <p:spPr>
          <a:xfrm>
            <a:off x="1188720" y="2926080"/>
            <a:ext cx="502920" cy="320040"/>
          </a:xfrm>
          <a:prstGeom prst="rect">
            <a:avLst/>
          </a:prstGeom>
          <a:noFill/>
          <a:ln/>
        </p:spPr>
        <p:txBody>
          <a:bodyPr wrap="square" lIns="0" tIns="0" rIns="0" bIns="0" rtlCol="0" anchor="ctr"/>
          <a:lstStyle/>
          <a:p>
            <a:pPr indent="0" marL="0">
              <a:buNone/>
            </a:pPr>
            <a:r>
              <a:rPr lang="en-US" sz="2000" b="1" dirty="0">
                <a:solidFill>
                  <a:srgbClr val="E9C46A"/>
                </a:solidFill>
                <a:latin typeface="Cambria" pitchFamily="34" charset="0"/>
                <a:ea typeface="Cambria" pitchFamily="34" charset="-122"/>
                <a:cs typeface="Cambria" pitchFamily="34" charset="-120"/>
              </a:rPr>
              <a:t>03</a:t>
            </a:r>
            <a:endParaRPr lang="en-US" sz="2000" dirty="0"/>
          </a:p>
        </p:txBody>
      </p:sp>
      <p:sp>
        <p:nvSpPr>
          <p:cNvPr id="20" name="Text 15"/>
          <p:cNvSpPr txBox="1"/>
          <p:nvPr/>
        </p:nvSpPr>
        <p:spPr>
          <a:xfrm>
            <a:off x="1691640" y="2926080"/>
            <a:ext cx="2377440" cy="320040"/>
          </a:xfrm>
          <a:prstGeom prst="rect">
            <a:avLst/>
          </a:prstGeom>
          <a:noFill/>
          <a:ln/>
        </p:spPr>
        <p:txBody>
          <a:bodyPr wrap="square" lIns="0" tIns="0" rIns="0" bIns="0" rtlCol="0" anchor="ctr"/>
          <a:lstStyle/>
          <a:p>
            <a:pPr indent="0" marL="0">
              <a:buNone/>
            </a:pPr>
            <a:r>
              <a:rPr lang="en-US" sz="1400" b="1" dirty="0">
                <a:solidFill>
                  <a:srgbClr val="1B1B2F"/>
                </a:solidFill>
                <a:latin typeface="Cambria" pitchFamily="34" charset="0"/>
                <a:ea typeface="Cambria" pitchFamily="34" charset="-122"/>
                <a:cs typeface="Cambria" pitchFamily="34" charset="-120"/>
              </a:rPr>
              <a:t>Demographic Imbalance</a:t>
            </a:r>
            <a:endParaRPr lang="en-US" sz="1400" dirty="0"/>
          </a:p>
        </p:txBody>
      </p:sp>
      <p:sp>
        <p:nvSpPr>
          <p:cNvPr id="21" name="Text 16"/>
          <p:cNvSpPr txBox="1"/>
          <p:nvPr/>
        </p:nvSpPr>
        <p:spPr>
          <a:xfrm>
            <a:off x="1188720" y="3337560"/>
            <a:ext cx="2926080" cy="640080"/>
          </a:xfrm>
          <a:prstGeom prst="rect">
            <a:avLst/>
          </a:prstGeom>
          <a:noFill/>
          <a:ln/>
        </p:spPr>
        <p:txBody>
          <a:bodyPr wrap="square" lIns="0" tIns="0" rIns="0" bIns="0" rtlCol="0" anchor="ctr"/>
          <a:lstStyle/>
          <a:p>
            <a:pPr indent="0" marL="0">
              <a:lnSpc>
                <a:spcPct val="130000"/>
              </a:lnSpc>
              <a:buNone/>
            </a:pPr>
            <a:r>
              <a:rPr lang="en-US" sz="1150" dirty="0">
                <a:solidFill>
                  <a:srgbClr val="4A4A6A"/>
                </a:solidFill>
                <a:latin typeface="Calibri" pitchFamily="34" charset="0"/>
                <a:ea typeface="Calibri" pitchFamily="34" charset="-122"/>
                <a:cs typeface="Calibri" pitchFamily="34" charset="-120"/>
              </a:rPr>
              <a:t>Content creators from certain backgrounds received disproportionately higher algorithmic visibility</a:t>
            </a:r>
            <a:endParaRPr lang="en-US" sz="1150" dirty="0"/>
          </a:p>
        </p:txBody>
      </p:sp>
      <p:sp>
        <p:nvSpPr>
          <p:cNvPr id="22" name="Shape 17"/>
          <p:cNvSpPr/>
          <p:nvPr/>
        </p:nvSpPr>
        <p:spPr>
          <a:xfrm>
            <a:off x="4663440" y="2834640"/>
            <a:ext cx="3931920" cy="1280160"/>
          </a:xfrm>
          <a:prstGeom prst="roundRect">
            <a:avLst>
              <a:gd name="adj" fmla="val 7143"/>
            </a:avLst>
          </a:prstGeom>
          <a:solidFill>
            <a:srgbClr val="F0F0F5"/>
          </a:solidFill>
          <a:ln/>
          <a:effectLst>
            <a:outerShdw sx="100000" sy="100000" kx="0" ky="0" algn="bl" rotWithShape="0" blurRad="76200" dist="25400" dir="8100000">
              <a:srgbClr val="DDDDDD">
                <a:alpha val="20000"/>
              </a:srgbClr>
            </a:outerShdw>
          </a:effectLst>
        </p:spPr>
      </p:sp>
      <p:sp>
        <p:nvSpPr>
          <p:cNvPr id="23" name="Shape 18"/>
          <p:cNvSpPr/>
          <p:nvPr/>
        </p:nvSpPr>
        <p:spPr>
          <a:xfrm>
            <a:off x="4800600" y="2971800"/>
            <a:ext cx="502920" cy="502920"/>
          </a:xfrm>
          <a:prstGeom prst="ellipse">
            <a:avLst/>
          </a:prstGeom>
          <a:solidFill>
            <a:srgbClr val="E9C46A"/>
          </a:solidFill>
          <a:ln/>
        </p:spPr>
      </p:sp>
      <p:pic>
        <p:nvPicPr>
          <p:cNvPr id="24" name="Image 3" descr="preencoded.png">    </p:cNvPr>
          <p:cNvPicPr>
            <a:picLocks noChangeAspect="1"/>
          </p:cNvPicPr>
          <p:nvPr/>
        </p:nvPicPr>
        <p:blipFill>
          <a:blip r:embed="rId4"/>
          <a:stretch>
            <a:fillRect/>
          </a:stretch>
        </p:blipFill>
        <p:spPr>
          <a:xfrm>
            <a:off x="4926330" y="3097530"/>
            <a:ext cx="251460" cy="251460"/>
          </a:xfrm>
          <a:prstGeom prst="rect">
            <a:avLst/>
          </a:prstGeom>
        </p:spPr>
      </p:pic>
      <p:sp>
        <p:nvSpPr>
          <p:cNvPr id="25" name="Text 19"/>
          <p:cNvSpPr txBox="1"/>
          <p:nvPr/>
        </p:nvSpPr>
        <p:spPr>
          <a:xfrm>
            <a:off x="5394960" y="2926080"/>
            <a:ext cx="502920" cy="320040"/>
          </a:xfrm>
          <a:prstGeom prst="rect">
            <a:avLst/>
          </a:prstGeom>
          <a:noFill/>
          <a:ln/>
        </p:spPr>
        <p:txBody>
          <a:bodyPr wrap="square" lIns="0" tIns="0" rIns="0" bIns="0" rtlCol="0" anchor="ctr"/>
          <a:lstStyle/>
          <a:p>
            <a:pPr indent="0" marL="0">
              <a:buNone/>
            </a:pPr>
            <a:r>
              <a:rPr lang="en-US" sz="2000" b="1" dirty="0">
                <a:solidFill>
                  <a:srgbClr val="E9C46A"/>
                </a:solidFill>
                <a:latin typeface="Cambria" pitchFamily="34" charset="0"/>
                <a:ea typeface="Cambria" pitchFamily="34" charset="-122"/>
                <a:cs typeface="Cambria" pitchFamily="34" charset="-120"/>
              </a:rPr>
              <a:t>04</a:t>
            </a:r>
            <a:endParaRPr lang="en-US" sz="2000" dirty="0"/>
          </a:p>
        </p:txBody>
      </p:sp>
      <p:sp>
        <p:nvSpPr>
          <p:cNvPr id="26" name="Text 20"/>
          <p:cNvSpPr txBox="1"/>
          <p:nvPr/>
        </p:nvSpPr>
        <p:spPr>
          <a:xfrm>
            <a:off x="5897880" y="2926080"/>
            <a:ext cx="2377440" cy="320040"/>
          </a:xfrm>
          <a:prstGeom prst="rect">
            <a:avLst/>
          </a:prstGeom>
          <a:noFill/>
          <a:ln/>
        </p:spPr>
        <p:txBody>
          <a:bodyPr wrap="square" lIns="0" tIns="0" rIns="0" bIns="0" rtlCol="0" anchor="ctr"/>
          <a:lstStyle/>
          <a:p>
            <a:pPr indent="0" marL="0">
              <a:buNone/>
            </a:pPr>
            <a:r>
              <a:rPr lang="en-US" sz="1400" b="1" dirty="0">
                <a:solidFill>
                  <a:srgbClr val="1B1B2F"/>
                </a:solidFill>
                <a:latin typeface="Cambria" pitchFamily="34" charset="0"/>
                <a:ea typeface="Cambria" pitchFamily="34" charset="-122"/>
                <a:cs typeface="Cambria" pitchFamily="34" charset="-120"/>
              </a:rPr>
              <a:t>Lack of Transparency</a:t>
            </a:r>
            <a:endParaRPr lang="en-US" sz="1400" dirty="0"/>
          </a:p>
        </p:txBody>
      </p:sp>
      <p:sp>
        <p:nvSpPr>
          <p:cNvPr id="27" name="Text 21"/>
          <p:cNvSpPr txBox="1"/>
          <p:nvPr/>
        </p:nvSpPr>
        <p:spPr>
          <a:xfrm>
            <a:off x="5394960" y="3337560"/>
            <a:ext cx="2926080" cy="640080"/>
          </a:xfrm>
          <a:prstGeom prst="rect">
            <a:avLst/>
          </a:prstGeom>
          <a:noFill/>
          <a:ln/>
        </p:spPr>
        <p:txBody>
          <a:bodyPr wrap="square" lIns="0" tIns="0" rIns="0" bIns="0" rtlCol="0" anchor="ctr"/>
          <a:lstStyle/>
          <a:p>
            <a:pPr indent="0" marL="0">
              <a:lnSpc>
                <a:spcPct val="130000"/>
              </a:lnSpc>
              <a:buNone/>
            </a:pPr>
            <a:r>
              <a:rPr lang="en-US" sz="1150" dirty="0">
                <a:solidFill>
                  <a:srgbClr val="4A4A6A"/>
                </a:solidFill>
                <a:latin typeface="Calibri" pitchFamily="34" charset="0"/>
                <a:ea typeface="Calibri" pitchFamily="34" charset="-122"/>
                <a:cs typeface="Calibri" pitchFamily="34" charset="-120"/>
              </a:rPr>
              <a:t>No platform explanation for why content was shown, and no meaningful user control over ranking</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Our Awareness Campaign Strategy</a:t>
            </a:r>
            <a:endParaRPr lang="en-US" sz="3200" dirty="0"/>
          </a:p>
        </p:txBody>
      </p:sp>
      <p:sp>
        <p:nvSpPr>
          <p:cNvPr id="3" name="Shape 1"/>
          <p:cNvSpPr/>
          <p:nvPr/>
        </p:nvSpPr>
        <p:spPr>
          <a:xfrm>
            <a:off x="365760" y="960120"/>
            <a:ext cx="2651760" cy="3246120"/>
          </a:xfrm>
          <a:prstGeom prst="roundRect">
            <a:avLst>
              <a:gd name="adj" fmla="val 4138"/>
            </a:avLst>
          </a:prstGeom>
          <a:solidFill>
            <a:srgbClr val="F0F0F5"/>
          </a:solidFill>
          <a:ln/>
          <a:effectLst>
            <a:outerShdw sx="100000" sy="100000" kx="0" ky="0" algn="bl" rotWithShape="0" blurRad="101600" dist="25400" dir="8100000">
              <a:srgbClr val="DDDDDD">
                <a:alpha val="25000"/>
              </a:srgbClr>
            </a:outerShdw>
          </a:effectLst>
        </p:spPr>
      </p:sp>
      <p:sp>
        <p:nvSpPr>
          <p:cNvPr id="4" name="Shape 2"/>
          <p:cNvSpPr/>
          <p:nvPr/>
        </p:nvSpPr>
        <p:spPr>
          <a:xfrm>
            <a:off x="1234440" y="1143000"/>
            <a:ext cx="777240" cy="777240"/>
          </a:xfrm>
          <a:prstGeom prst="ellipse">
            <a:avLst/>
          </a:prstGeom>
          <a:solidFill>
            <a:srgbClr val="E63946"/>
          </a:solidFill>
          <a:ln/>
        </p:spPr>
      </p:sp>
      <p:pic>
        <p:nvPicPr>
          <p:cNvPr id="5" name="Image 0" descr="preencoded.png">    </p:cNvPr>
          <p:cNvPicPr>
            <a:picLocks noChangeAspect="1"/>
          </p:cNvPicPr>
          <p:nvPr/>
        </p:nvPicPr>
        <p:blipFill>
          <a:blip r:embed="rId1"/>
          <a:stretch>
            <a:fillRect/>
          </a:stretch>
        </p:blipFill>
        <p:spPr>
          <a:xfrm>
            <a:off x="1428750" y="1337310"/>
            <a:ext cx="388620" cy="388620"/>
          </a:xfrm>
          <a:prstGeom prst="rect">
            <a:avLst/>
          </a:prstGeom>
        </p:spPr>
      </p:pic>
      <p:sp>
        <p:nvSpPr>
          <p:cNvPr id="6" name="Text 3"/>
          <p:cNvSpPr txBox="1"/>
          <p:nvPr/>
        </p:nvSpPr>
        <p:spPr>
          <a:xfrm>
            <a:off x="548640" y="2057400"/>
            <a:ext cx="2286000" cy="365760"/>
          </a:xfrm>
          <a:prstGeom prst="rect">
            <a:avLst/>
          </a:prstGeom>
          <a:noFill/>
          <a:ln/>
        </p:spPr>
        <p:txBody>
          <a:bodyPr wrap="square" lIns="0" tIns="0" rIns="0" bIns="0" rtlCol="0" anchor="ctr"/>
          <a:lstStyle/>
          <a:p>
            <a:pPr algn="ctr" indent="0" marL="0">
              <a:buNone/>
            </a:pPr>
            <a:r>
              <a:rPr lang="en-US" sz="1800" b="1" dirty="0">
                <a:solidFill>
                  <a:srgbClr val="E63946"/>
                </a:solidFill>
                <a:latin typeface="Cambria" pitchFamily="34" charset="0"/>
                <a:ea typeface="Cambria" pitchFamily="34" charset="-122"/>
                <a:cs typeface="Cambria" pitchFamily="34" charset="-120"/>
              </a:rPr>
              <a:t>EDUCATE</a:t>
            </a:r>
            <a:endParaRPr lang="en-US" sz="1800" dirty="0"/>
          </a:p>
        </p:txBody>
      </p:sp>
      <p:sp>
        <p:nvSpPr>
          <p:cNvPr id="7" name="Text 4"/>
          <p:cNvSpPr txBox="1"/>
          <p:nvPr/>
        </p:nvSpPr>
        <p:spPr>
          <a:xfrm>
            <a:off x="640080" y="2514600"/>
            <a:ext cx="2103120" cy="155448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Break down how algorithms work in simple terms</a:t>
            </a:r>
            <a:endParaRPr lang="en-US" sz="1100" dirty="0"/>
          </a:p>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Visual explainers for non-technical audiences</a:t>
            </a:r>
            <a:endParaRPr lang="en-US" sz="1100" dirty="0"/>
          </a:p>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Interactive demos showing feed personalization</a:t>
            </a:r>
            <a:endParaRPr lang="en-US" sz="1100" dirty="0"/>
          </a:p>
        </p:txBody>
      </p:sp>
      <p:sp>
        <p:nvSpPr>
          <p:cNvPr id="8" name="Shape 5"/>
          <p:cNvSpPr/>
          <p:nvPr/>
        </p:nvSpPr>
        <p:spPr>
          <a:xfrm>
            <a:off x="3246120" y="960120"/>
            <a:ext cx="2651760" cy="3246120"/>
          </a:xfrm>
          <a:prstGeom prst="roundRect">
            <a:avLst>
              <a:gd name="adj" fmla="val 4138"/>
            </a:avLst>
          </a:prstGeom>
          <a:solidFill>
            <a:srgbClr val="F0F0F5"/>
          </a:solidFill>
          <a:ln/>
          <a:effectLst>
            <a:outerShdw sx="100000" sy="100000" kx="0" ky="0" algn="bl" rotWithShape="0" blurRad="101600" dist="25400" dir="8100000">
              <a:srgbClr val="DDDDDD">
                <a:alpha val="25000"/>
              </a:srgbClr>
            </a:outerShdw>
          </a:effectLst>
        </p:spPr>
      </p:sp>
      <p:sp>
        <p:nvSpPr>
          <p:cNvPr id="9" name="Shape 6"/>
          <p:cNvSpPr/>
          <p:nvPr/>
        </p:nvSpPr>
        <p:spPr>
          <a:xfrm>
            <a:off x="4114800" y="1143000"/>
            <a:ext cx="777240" cy="777240"/>
          </a:xfrm>
          <a:prstGeom prst="ellipse">
            <a:avLst/>
          </a:prstGeom>
          <a:solidFill>
            <a:srgbClr val="264653"/>
          </a:solidFill>
          <a:ln/>
        </p:spPr>
      </p:sp>
      <p:pic>
        <p:nvPicPr>
          <p:cNvPr id="10" name="Image 1" descr="preencoded.png">    </p:cNvPr>
          <p:cNvPicPr>
            <a:picLocks noChangeAspect="1"/>
          </p:cNvPicPr>
          <p:nvPr/>
        </p:nvPicPr>
        <p:blipFill>
          <a:blip r:embed="rId2"/>
          <a:stretch>
            <a:fillRect/>
          </a:stretch>
        </p:blipFill>
        <p:spPr>
          <a:xfrm>
            <a:off x="4309110" y="1337310"/>
            <a:ext cx="388620" cy="388620"/>
          </a:xfrm>
          <a:prstGeom prst="rect">
            <a:avLst/>
          </a:prstGeom>
        </p:spPr>
      </p:pic>
      <p:sp>
        <p:nvSpPr>
          <p:cNvPr id="11" name="Text 7"/>
          <p:cNvSpPr txBox="1"/>
          <p:nvPr/>
        </p:nvSpPr>
        <p:spPr>
          <a:xfrm>
            <a:off x="3429000" y="2057400"/>
            <a:ext cx="2286000" cy="365760"/>
          </a:xfrm>
          <a:prstGeom prst="rect">
            <a:avLst/>
          </a:prstGeom>
          <a:noFill/>
          <a:ln/>
        </p:spPr>
        <p:txBody>
          <a:bodyPr wrap="square" lIns="0" tIns="0" rIns="0" bIns="0" rtlCol="0" anchor="ctr"/>
          <a:lstStyle/>
          <a:p>
            <a:pPr algn="ctr" indent="0" marL="0">
              <a:buNone/>
            </a:pPr>
            <a:r>
              <a:rPr lang="en-US" sz="1800" b="1" dirty="0">
                <a:solidFill>
                  <a:srgbClr val="264653"/>
                </a:solidFill>
                <a:latin typeface="Cambria" pitchFamily="34" charset="0"/>
                <a:ea typeface="Cambria" pitchFamily="34" charset="-122"/>
                <a:cs typeface="Cambria" pitchFamily="34" charset="-120"/>
              </a:rPr>
              <a:t>EXPOSE</a:t>
            </a:r>
            <a:endParaRPr lang="en-US" sz="1800" dirty="0"/>
          </a:p>
        </p:txBody>
      </p:sp>
      <p:sp>
        <p:nvSpPr>
          <p:cNvPr id="12" name="Text 8"/>
          <p:cNvSpPr txBox="1"/>
          <p:nvPr/>
        </p:nvSpPr>
        <p:spPr>
          <a:xfrm>
            <a:off x="3520440" y="2514600"/>
            <a:ext cx="2103120" cy="155448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Real examples of different feeds for different users</a:t>
            </a:r>
            <a:endParaRPr lang="en-US" sz="1100" dirty="0"/>
          </a:p>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Data-driven infographics on bias patterns</a:t>
            </a:r>
            <a:endParaRPr lang="en-US" sz="1100" dirty="0"/>
          </a:p>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Case studies of documented algorithmic harm</a:t>
            </a:r>
            <a:endParaRPr lang="en-US" sz="1100" dirty="0"/>
          </a:p>
        </p:txBody>
      </p:sp>
      <p:sp>
        <p:nvSpPr>
          <p:cNvPr id="13" name="Shape 9"/>
          <p:cNvSpPr/>
          <p:nvPr/>
        </p:nvSpPr>
        <p:spPr>
          <a:xfrm>
            <a:off x="6126480" y="960120"/>
            <a:ext cx="2651760" cy="3246120"/>
          </a:xfrm>
          <a:prstGeom prst="roundRect">
            <a:avLst>
              <a:gd name="adj" fmla="val 4138"/>
            </a:avLst>
          </a:prstGeom>
          <a:solidFill>
            <a:srgbClr val="F0F0F5"/>
          </a:solidFill>
          <a:ln/>
          <a:effectLst>
            <a:outerShdw sx="100000" sy="100000" kx="0" ky="0" algn="bl" rotWithShape="0" blurRad="101600" dist="25400" dir="8100000">
              <a:srgbClr val="DDDDDD">
                <a:alpha val="25000"/>
              </a:srgbClr>
            </a:outerShdw>
          </a:effectLst>
        </p:spPr>
      </p:sp>
      <p:sp>
        <p:nvSpPr>
          <p:cNvPr id="14" name="Shape 10"/>
          <p:cNvSpPr/>
          <p:nvPr/>
        </p:nvSpPr>
        <p:spPr>
          <a:xfrm>
            <a:off x="6995160" y="1143000"/>
            <a:ext cx="777240" cy="777240"/>
          </a:xfrm>
          <a:prstGeom prst="ellipse">
            <a:avLst/>
          </a:prstGeom>
          <a:solidFill>
            <a:srgbClr val="2A9D8F"/>
          </a:solidFill>
          <a:ln/>
        </p:spPr>
      </p:sp>
      <p:pic>
        <p:nvPicPr>
          <p:cNvPr id="15" name="Image 2" descr="preencoded.png">    </p:cNvPr>
          <p:cNvPicPr>
            <a:picLocks noChangeAspect="1"/>
          </p:cNvPicPr>
          <p:nvPr/>
        </p:nvPicPr>
        <p:blipFill>
          <a:blip r:embed="rId3"/>
          <a:stretch>
            <a:fillRect/>
          </a:stretch>
        </p:blipFill>
        <p:spPr>
          <a:xfrm>
            <a:off x="7189470" y="1337310"/>
            <a:ext cx="388620" cy="388620"/>
          </a:xfrm>
          <a:prstGeom prst="rect">
            <a:avLst/>
          </a:prstGeom>
        </p:spPr>
      </p:pic>
      <p:sp>
        <p:nvSpPr>
          <p:cNvPr id="16" name="Text 11"/>
          <p:cNvSpPr txBox="1"/>
          <p:nvPr/>
        </p:nvSpPr>
        <p:spPr>
          <a:xfrm>
            <a:off x="6309360" y="2057400"/>
            <a:ext cx="2286000" cy="365760"/>
          </a:xfrm>
          <a:prstGeom prst="rect">
            <a:avLst/>
          </a:prstGeom>
          <a:noFill/>
          <a:ln/>
        </p:spPr>
        <p:txBody>
          <a:bodyPr wrap="square" lIns="0" tIns="0" rIns="0" bIns="0" rtlCol="0" anchor="ctr"/>
          <a:lstStyle/>
          <a:p>
            <a:pPr algn="ctr" indent="0" marL="0">
              <a:buNone/>
            </a:pPr>
            <a:r>
              <a:rPr lang="en-US" sz="1800" b="1" dirty="0">
                <a:solidFill>
                  <a:srgbClr val="2A9D8F"/>
                </a:solidFill>
                <a:latin typeface="Cambria" pitchFamily="34" charset="0"/>
                <a:ea typeface="Cambria" pitchFamily="34" charset="-122"/>
                <a:cs typeface="Cambria" pitchFamily="34" charset="-120"/>
              </a:rPr>
              <a:t>EMPOWER</a:t>
            </a:r>
            <a:endParaRPr lang="en-US" sz="1800" dirty="0"/>
          </a:p>
        </p:txBody>
      </p:sp>
      <p:sp>
        <p:nvSpPr>
          <p:cNvPr id="17" name="Text 12"/>
          <p:cNvSpPr txBox="1"/>
          <p:nvPr/>
        </p:nvSpPr>
        <p:spPr>
          <a:xfrm>
            <a:off x="6400800" y="2514600"/>
            <a:ext cx="2103120" cy="155448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Actionable steps to reduce algorithmic influence</a:t>
            </a:r>
            <a:endParaRPr lang="en-US" sz="1100" dirty="0"/>
          </a:p>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Tool recommendations for feed control</a:t>
            </a:r>
            <a:endParaRPr lang="en-US" sz="1100" dirty="0"/>
          </a:p>
          <a:p>
            <a:pPr marL="342900" indent="-342900">
              <a:lnSpc>
                <a:spcPct val="120000"/>
              </a:lnSpc>
              <a:spcAft>
                <a:spcPts val="600"/>
              </a:spcAft>
              <a:buSzPct val="100000"/>
              <a:buChar char="•"/>
            </a:pPr>
            <a:r>
              <a:rPr lang="en-US" sz="1100" dirty="0">
                <a:solidFill>
                  <a:srgbClr val="4A4A6A"/>
                </a:solidFill>
                <a:latin typeface="Calibri" pitchFamily="34" charset="0"/>
                <a:ea typeface="Calibri" pitchFamily="34" charset="-122"/>
                <a:cs typeface="Calibri" pitchFamily="34" charset="-120"/>
              </a:rPr>
              <a:t>Challenge: go chronological for one week</a:t>
            </a:r>
            <a:endParaRPr lang="en-US" sz="1100" dirty="0"/>
          </a:p>
        </p:txBody>
      </p:sp>
      <p:sp>
        <p:nvSpPr>
          <p:cNvPr id="18" name="Text 13"/>
          <p:cNvSpPr txBox="1"/>
          <p:nvPr/>
        </p:nvSpPr>
        <p:spPr>
          <a:xfrm>
            <a:off x="548640" y="4389120"/>
            <a:ext cx="8046720" cy="320040"/>
          </a:xfrm>
          <a:prstGeom prst="rect">
            <a:avLst/>
          </a:prstGeom>
          <a:noFill/>
          <a:ln/>
        </p:spPr>
        <p:txBody>
          <a:bodyPr wrap="square" lIns="0" tIns="0" rIns="0" bIns="0" rtlCol="0" anchor="ctr"/>
          <a:lstStyle/>
          <a:p>
            <a:pPr algn="l" indent="0" marL="0">
              <a:buNone/>
            </a:pPr>
            <a:r>
              <a:rPr lang="en-US" sz="1200" b="1" dirty="0">
                <a:solidFill>
                  <a:srgbClr val="264653"/>
                </a:solidFill>
                <a:latin typeface="Calibri" pitchFamily="34" charset="0"/>
                <a:ea typeface="Calibri" pitchFamily="34" charset="-122"/>
                <a:cs typeface="Calibri" pitchFamily="34" charset="-120"/>
              </a:rPr>
              <a:t>Target Audience: </a:t>
            </a:r>
            <a:pPr algn="l" indent="0" marL="0">
              <a:buNone/>
            </a:pPr>
            <a:r>
              <a:rPr lang="en-US" sz="1200" dirty="0">
                <a:solidFill>
                  <a:srgbClr val="4A4A6A"/>
                </a:solidFill>
                <a:latin typeface="Calibri" pitchFamily="34" charset="0"/>
                <a:ea typeface="Calibri" pitchFamily="34" charset="-122"/>
                <a:cs typeface="Calibri" pitchFamily="34" charset="-120"/>
              </a:rPr>
              <a:t>University students, delivered through Instagram Stories, short-form video, and shareable infographics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Our Digital Campaign Artifacts</a:t>
            </a:r>
            <a:endParaRPr lang="en-US" sz="3200" dirty="0"/>
          </a:p>
        </p:txBody>
      </p:sp>
      <p:sp>
        <p:nvSpPr>
          <p:cNvPr id="3" name="Shape 1"/>
          <p:cNvSpPr/>
          <p:nvPr/>
        </p:nvSpPr>
        <p:spPr>
          <a:xfrm>
            <a:off x="457200" y="1005840"/>
            <a:ext cx="8229600" cy="1051560"/>
          </a:xfrm>
          <a:prstGeom prst="roundRect">
            <a:avLst>
              <a:gd name="adj" fmla="val 8696"/>
            </a:avLst>
          </a:prstGeom>
          <a:solidFill>
            <a:srgbClr val="F0F0F5"/>
          </a:solidFill>
          <a:ln/>
          <a:effectLst>
            <a:outerShdw sx="100000" sy="100000" kx="0" ky="0" algn="bl" rotWithShape="0" blurRad="76200" dist="25400" dir="8100000">
              <a:srgbClr val="DDDDDD">
                <a:alpha val="20000"/>
              </a:srgbClr>
            </a:outerShdw>
          </a:effectLst>
        </p:spPr>
      </p:sp>
      <p:sp>
        <p:nvSpPr>
          <p:cNvPr id="4" name="Shape 2"/>
          <p:cNvSpPr/>
          <p:nvPr/>
        </p:nvSpPr>
        <p:spPr>
          <a:xfrm>
            <a:off x="640080" y="1170432"/>
            <a:ext cx="640080" cy="640080"/>
          </a:xfrm>
          <a:prstGeom prst="ellipse">
            <a:avLst/>
          </a:prstGeom>
          <a:solidFill>
            <a:srgbClr val="E63946"/>
          </a:solidFill>
          <a:ln/>
        </p:spPr>
      </p:sp>
      <p:pic>
        <p:nvPicPr>
          <p:cNvPr id="5" name="Image 0" descr="preencoded.png">    </p:cNvPr>
          <p:cNvPicPr>
            <a:picLocks noChangeAspect="1"/>
          </p:cNvPicPr>
          <p:nvPr/>
        </p:nvPicPr>
        <p:blipFill>
          <a:blip r:embed="rId1"/>
          <a:stretch>
            <a:fillRect/>
          </a:stretch>
        </p:blipFill>
        <p:spPr>
          <a:xfrm>
            <a:off x="800100" y="1330452"/>
            <a:ext cx="320040" cy="320040"/>
          </a:xfrm>
          <a:prstGeom prst="rect">
            <a:avLst/>
          </a:prstGeom>
        </p:spPr>
      </p:pic>
      <p:sp>
        <p:nvSpPr>
          <p:cNvPr id="6" name="Text 3"/>
          <p:cNvSpPr txBox="1"/>
          <p:nvPr/>
        </p:nvSpPr>
        <p:spPr>
          <a:xfrm>
            <a:off x="1417320" y="1097280"/>
            <a:ext cx="2103120" cy="640080"/>
          </a:xfrm>
          <a:prstGeom prst="rect">
            <a:avLst/>
          </a:prstGeom>
          <a:noFill/>
          <a:ln/>
        </p:spPr>
        <p:txBody>
          <a:bodyPr wrap="square" lIns="0" tIns="0" rIns="0" bIns="0" rtlCol="0" anchor="t"/>
          <a:lstStyle/>
          <a:p>
            <a:pPr indent="0" marL="0">
              <a:lnSpc>
                <a:spcPct val="120000"/>
              </a:lnSpc>
              <a:buNone/>
            </a:pPr>
            <a:r>
              <a:rPr lang="en-US" sz="1600" b="1" dirty="0">
                <a:solidFill>
                  <a:srgbClr val="1B1B2F"/>
                </a:solidFill>
                <a:latin typeface="Calibri" pitchFamily="34" charset="0"/>
                <a:ea typeface="Calibri" pitchFamily="34" charset="-122"/>
                <a:cs typeface="Calibri" pitchFamily="34" charset="-120"/>
              </a:rPr>
              <a:t>Infographic</a:t>
            </a:r>
            <a:endParaRPr lang="en-US" sz="1600" dirty="0"/>
          </a:p>
          <a:p>
            <a:pPr indent="0" marL="0">
              <a:lnSpc>
                <a:spcPct val="120000"/>
              </a:lnSpc>
              <a:buNone/>
            </a:pPr>
            <a:r>
              <a:rPr lang="en-US" sz="1200" i="1" dirty="0">
                <a:solidFill>
                  <a:srgbClr val="E63946"/>
                </a:solidFill>
                <a:latin typeface="Calibri" pitchFamily="34" charset="0"/>
                <a:ea typeface="Calibri" pitchFamily="34" charset="-122"/>
                <a:cs typeface="Calibri" pitchFamily="34" charset="-120"/>
              </a:rPr>
              <a:t>"What Your Feed Isn't Showing You"</a:t>
            </a:r>
            <a:endParaRPr lang="en-US" sz="1600" dirty="0"/>
          </a:p>
        </p:txBody>
      </p:sp>
      <p:sp>
        <p:nvSpPr>
          <p:cNvPr id="7" name="Text 4"/>
          <p:cNvSpPr txBox="1"/>
          <p:nvPr/>
        </p:nvSpPr>
        <p:spPr>
          <a:xfrm>
            <a:off x="3611880" y="1097280"/>
            <a:ext cx="3291840" cy="822960"/>
          </a:xfrm>
          <a:prstGeom prst="rect">
            <a:avLst/>
          </a:prstGeom>
          <a:noFill/>
          <a:ln/>
        </p:spPr>
        <p:txBody>
          <a:bodyPr wrap="square" lIns="0" tIns="0" rIns="0" bIns="0" rtlCol="0" anchor="ctr"/>
          <a:lstStyle/>
          <a:p>
            <a:pPr indent="0" marL="0">
              <a:lnSpc>
                <a:spcPct val="125000"/>
              </a:lnSpc>
              <a:buNone/>
            </a:pPr>
            <a:r>
              <a:rPr lang="en-US" sz="1100" dirty="0">
                <a:solidFill>
                  <a:srgbClr val="4A4A6A"/>
                </a:solidFill>
                <a:latin typeface="Calibri" pitchFamily="34" charset="0"/>
                <a:ea typeface="Calibri" pitchFamily="34" charset="-122"/>
                <a:cs typeface="Calibri" pitchFamily="34" charset="-120"/>
              </a:rPr>
              <a:t>Visual map of how the algorithm filters content and what gets hidden. Designed for instant sharing on Instagram and WhatsApp.</a:t>
            </a:r>
            <a:endParaRPr lang="en-US" sz="1100" dirty="0"/>
          </a:p>
        </p:txBody>
      </p:sp>
      <p:sp>
        <p:nvSpPr>
          <p:cNvPr id="8" name="Shape 5"/>
          <p:cNvSpPr/>
          <p:nvPr/>
        </p:nvSpPr>
        <p:spPr>
          <a:xfrm>
            <a:off x="7086600" y="1325880"/>
            <a:ext cx="1371600" cy="411480"/>
          </a:xfrm>
          <a:prstGeom prst="roundRect">
            <a:avLst>
              <a:gd name="adj" fmla="val 17778"/>
            </a:avLst>
          </a:prstGeom>
          <a:solidFill>
            <a:srgbClr val="E63946"/>
          </a:solidFill>
          <a:ln/>
        </p:spPr>
      </p:sp>
      <p:sp>
        <p:nvSpPr>
          <p:cNvPr id="9" name="Text 6"/>
          <p:cNvSpPr txBox="1"/>
          <p:nvPr/>
        </p:nvSpPr>
        <p:spPr>
          <a:xfrm>
            <a:off x="7086600" y="1325880"/>
            <a:ext cx="137160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Instagram Story</a:t>
            </a:r>
            <a:endParaRPr lang="en-US" sz="900" dirty="0"/>
          </a:p>
        </p:txBody>
      </p:sp>
      <p:sp>
        <p:nvSpPr>
          <p:cNvPr id="10" name="Shape 7"/>
          <p:cNvSpPr/>
          <p:nvPr/>
        </p:nvSpPr>
        <p:spPr>
          <a:xfrm>
            <a:off x="457200" y="2240280"/>
            <a:ext cx="8229600" cy="1051560"/>
          </a:xfrm>
          <a:prstGeom prst="roundRect">
            <a:avLst>
              <a:gd name="adj" fmla="val 8696"/>
            </a:avLst>
          </a:prstGeom>
          <a:solidFill>
            <a:srgbClr val="F0F0F5"/>
          </a:solidFill>
          <a:ln/>
          <a:effectLst>
            <a:outerShdw sx="100000" sy="100000" kx="0" ky="0" algn="bl" rotWithShape="0" blurRad="76200" dist="25400" dir="8100000">
              <a:srgbClr val="DDDDDD">
                <a:alpha val="20000"/>
              </a:srgbClr>
            </a:outerShdw>
          </a:effectLst>
        </p:spPr>
      </p:sp>
      <p:sp>
        <p:nvSpPr>
          <p:cNvPr id="11" name="Shape 8"/>
          <p:cNvSpPr/>
          <p:nvPr/>
        </p:nvSpPr>
        <p:spPr>
          <a:xfrm>
            <a:off x="640080" y="2404872"/>
            <a:ext cx="640080" cy="640080"/>
          </a:xfrm>
          <a:prstGeom prst="ellipse">
            <a:avLst/>
          </a:prstGeom>
          <a:solidFill>
            <a:srgbClr val="264653"/>
          </a:solidFill>
          <a:ln/>
        </p:spPr>
      </p:sp>
      <p:pic>
        <p:nvPicPr>
          <p:cNvPr id="12" name="Image 1" descr="preencoded.png">    </p:cNvPr>
          <p:cNvPicPr>
            <a:picLocks noChangeAspect="1"/>
          </p:cNvPicPr>
          <p:nvPr/>
        </p:nvPicPr>
        <p:blipFill>
          <a:blip r:embed="rId2"/>
          <a:stretch>
            <a:fillRect/>
          </a:stretch>
        </p:blipFill>
        <p:spPr>
          <a:xfrm>
            <a:off x="800100" y="2564892"/>
            <a:ext cx="320040" cy="320040"/>
          </a:xfrm>
          <a:prstGeom prst="rect">
            <a:avLst/>
          </a:prstGeom>
        </p:spPr>
      </p:pic>
      <p:sp>
        <p:nvSpPr>
          <p:cNvPr id="13" name="Text 9"/>
          <p:cNvSpPr txBox="1"/>
          <p:nvPr/>
        </p:nvSpPr>
        <p:spPr>
          <a:xfrm>
            <a:off x="1417320" y="2331720"/>
            <a:ext cx="2103120" cy="640080"/>
          </a:xfrm>
          <a:prstGeom prst="rect">
            <a:avLst/>
          </a:prstGeom>
          <a:noFill/>
          <a:ln/>
        </p:spPr>
        <p:txBody>
          <a:bodyPr wrap="square" lIns="0" tIns="0" rIns="0" bIns="0" rtlCol="0" anchor="t"/>
          <a:lstStyle/>
          <a:p>
            <a:pPr indent="0" marL="0">
              <a:lnSpc>
                <a:spcPct val="120000"/>
              </a:lnSpc>
              <a:buNone/>
            </a:pPr>
            <a:r>
              <a:rPr lang="en-US" sz="1600" b="1" dirty="0">
                <a:solidFill>
                  <a:srgbClr val="1B1B2F"/>
                </a:solidFill>
                <a:latin typeface="Calibri" pitchFamily="34" charset="0"/>
                <a:ea typeface="Calibri" pitchFamily="34" charset="-122"/>
                <a:cs typeface="Calibri" pitchFamily="34" charset="-120"/>
              </a:rPr>
              <a:t>Instagram Carousel</a:t>
            </a:r>
            <a:endParaRPr lang="en-US" sz="1600" dirty="0"/>
          </a:p>
          <a:p>
            <a:pPr indent="0" marL="0">
              <a:lnSpc>
                <a:spcPct val="120000"/>
              </a:lnSpc>
              <a:buNone/>
            </a:pPr>
            <a:r>
              <a:rPr lang="en-US" sz="1200" i="1" dirty="0">
                <a:solidFill>
                  <a:srgbClr val="264653"/>
                </a:solidFill>
                <a:latin typeface="Calibri" pitchFamily="34" charset="0"/>
                <a:ea typeface="Calibri" pitchFamily="34" charset="-122"/>
                <a:cs typeface="Calibri" pitchFamily="34" charset="-120"/>
              </a:rPr>
              <a:t>"Break Your Bubble"</a:t>
            </a:r>
            <a:endParaRPr lang="en-US" sz="1600" dirty="0"/>
          </a:p>
        </p:txBody>
      </p:sp>
      <p:sp>
        <p:nvSpPr>
          <p:cNvPr id="14" name="Text 10"/>
          <p:cNvSpPr txBox="1"/>
          <p:nvPr/>
        </p:nvSpPr>
        <p:spPr>
          <a:xfrm>
            <a:off x="3611880" y="2331720"/>
            <a:ext cx="3291840" cy="822960"/>
          </a:xfrm>
          <a:prstGeom prst="rect">
            <a:avLst/>
          </a:prstGeom>
          <a:noFill/>
          <a:ln/>
        </p:spPr>
        <p:txBody>
          <a:bodyPr wrap="square" lIns="0" tIns="0" rIns="0" bIns="0" rtlCol="0" anchor="ctr"/>
          <a:lstStyle/>
          <a:p>
            <a:pPr indent="0" marL="0">
              <a:lnSpc>
                <a:spcPct val="125000"/>
              </a:lnSpc>
              <a:buNone/>
            </a:pPr>
            <a:r>
              <a:rPr lang="en-US" sz="1100" dirty="0">
                <a:solidFill>
                  <a:srgbClr val="4A4A6A"/>
                </a:solidFill>
                <a:latin typeface="Calibri" pitchFamily="34" charset="0"/>
                <a:ea typeface="Calibri" pitchFamily="34" charset="-122"/>
                <a:cs typeface="Calibri" pitchFamily="34" charset="-120"/>
              </a:rPr>
              <a:t>Swipeable cards teaching 5 steps to diversify your feed. Each card features one clear action with a simple visual.</a:t>
            </a:r>
            <a:endParaRPr lang="en-US" sz="1100" dirty="0"/>
          </a:p>
        </p:txBody>
      </p:sp>
      <p:sp>
        <p:nvSpPr>
          <p:cNvPr id="15" name="Shape 11"/>
          <p:cNvSpPr/>
          <p:nvPr/>
        </p:nvSpPr>
        <p:spPr>
          <a:xfrm>
            <a:off x="7086600" y="2560320"/>
            <a:ext cx="1371600" cy="411480"/>
          </a:xfrm>
          <a:prstGeom prst="roundRect">
            <a:avLst>
              <a:gd name="adj" fmla="val 17778"/>
            </a:avLst>
          </a:prstGeom>
          <a:solidFill>
            <a:srgbClr val="264653"/>
          </a:solidFill>
          <a:ln/>
        </p:spPr>
      </p:sp>
      <p:sp>
        <p:nvSpPr>
          <p:cNvPr id="16" name="Text 12"/>
          <p:cNvSpPr txBox="1"/>
          <p:nvPr/>
        </p:nvSpPr>
        <p:spPr>
          <a:xfrm>
            <a:off x="7086600" y="2560320"/>
            <a:ext cx="137160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5-Slide Carousel</a:t>
            </a:r>
            <a:endParaRPr lang="en-US" sz="900" dirty="0"/>
          </a:p>
        </p:txBody>
      </p:sp>
      <p:sp>
        <p:nvSpPr>
          <p:cNvPr id="17" name="Shape 13"/>
          <p:cNvSpPr/>
          <p:nvPr/>
        </p:nvSpPr>
        <p:spPr>
          <a:xfrm>
            <a:off x="457200" y="3474720"/>
            <a:ext cx="8229600" cy="1051560"/>
          </a:xfrm>
          <a:prstGeom prst="roundRect">
            <a:avLst>
              <a:gd name="adj" fmla="val 8696"/>
            </a:avLst>
          </a:prstGeom>
          <a:solidFill>
            <a:srgbClr val="F0F0F5"/>
          </a:solidFill>
          <a:ln/>
          <a:effectLst>
            <a:outerShdw sx="100000" sy="100000" kx="0" ky="0" algn="bl" rotWithShape="0" blurRad="76200" dist="25400" dir="8100000">
              <a:srgbClr val="DDDDDD">
                <a:alpha val="20000"/>
              </a:srgbClr>
            </a:outerShdw>
          </a:effectLst>
        </p:spPr>
      </p:sp>
      <p:sp>
        <p:nvSpPr>
          <p:cNvPr id="18" name="Shape 14"/>
          <p:cNvSpPr/>
          <p:nvPr/>
        </p:nvSpPr>
        <p:spPr>
          <a:xfrm>
            <a:off x="640080" y="3639312"/>
            <a:ext cx="640080" cy="640080"/>
          </a:xfrm>
          <a:prstGeom prst="ellipse">
            <a:avLst/>
          </a:prstGeom>
          <a:solidFill>
            <a:srgbClr val="2A9D8F"/>
          </a:solidFill>
          <a:ln/>
        </p:spPr>
      </p:sp>
      <p:pic>
        <p:nvPicPr>
          <p:cNvPr id="19" name="Image 2" descr="preencoded.png">    </p:cNvPr>
          <p:cNvPicPr>
            <a:picLocks noChangeAspect="1"/>
          </p:cNvPicPr>
          <p:nvPr/>
        </p:nvPicPr>
        <p:blipFill>
          <a:blip r:embed="rId3"/>
          <a:stretch>
            <a:fillRect/>
          </a:stretch>
        </p:blipFill>
        <p:spPr>
          <a:xfrm>
            <a:off x="800100" y="3799332"/>
            <a:ext cx="320040" cy="320040"/>
          </a:xfrm>
          <a:prstGeom prst="rect">
            <a:avLst/>
          </a:prstGeom>
        </p:spPr>
      </p:pic>
      <p:sp>
        <p:nvSpPr>
          <p:cNvPr id="20" name="Text 15"/>
          <p:cNvSpPr txBox="1"/>
          <p:nvPr/>
        </p:nvSpPr>
        <p:spPr>
          <a:xfrm>
            <a:off x="1417320" y="3566160"/>
            <a:ext cx="2103120" cy="640080"/>
          </a:xfrm>
          <a:prstGeom prst="rect">
            <a:avLst/>
          </a:prstGeom>
          <a:noFill/>
          <a:ln/>
        </p:spPr>
        <p:txBody>
          <a:bodyPr wrap="square" lIns="0" tIns="0" rIns="0" bIns="0" rtlCol="0" anchor="t"/>
          <a:lstStyle/>
          <a:p>
            <a:pPr indent="0" marL="0">
              <a:lnSpc>
                <a:spcPct val="120000"/>
              </a:lnSpc>
              <a:buNone/>
            </a:pPr>
            <a:r>
              <a:rPr lang="en-US" sz="1600" b="1" dirty="0">
                <a:solidFill>
                  <a:srgbClr val="1B1B2F"/>
                </a:solidFill>
                <a:latin typeface="Calibri" pitchFamily="34" charset="0"/>
                <a:ea typeface="Calibri" pitchFamily="34" charset="-122"/>
                <a:cs typeface="Calibri" pitchFamily="34" charset="-120"/>
              </a:rPr>
              <a:t>Social Challenge</a:t>
            </a:r>
            <a:endParaRPr lang="en-US" sz="1600" dirty="0"/>
          </a:p>
          <a:p>
            <a:pPr indent="0" marL="0">
              <a:lnSpc>
                <a:spcPct val="120000"/>
              </a:lnSpc>
              <a:buNone/>
            </a:pPr>
            <a:r>
              <a:rPr lang="en-US" sz="1200" i="1" dirty="0">
                <a:solidFill>
                  <a:srgbClr val="2A9D8F"/>
                </a:solidFill>
                <a:latin typeface="Calibri" pitchFamily="34" charset="0"/>
                <a:ea typeface="Calibri" pitchFamily="34" charset="-122"/>
                <a:cs typeface="Calibri" pitchFamily="34" charset="-120"/>
              </a:rPr>
              <a:t>"Algorithm Audit Challenge"</a:t>
            </a:r>
            <a:endParaRPr lang="en-US" sz="1600" dirty="0"/>
          </a:p>
        </p:txBody>
      </p:sp>
      <p:sp>
        <p:nvSpPr>
          <p:cNvPr id="21" name="Text 16"/>
          <p:cNvSpPr txBox="1"/>
          <p:nvPr/>
        </p:nvSpPr>
        <p:spPr>
          <a:xfrm>
            <a:off x="3611880" y="3566160"/>
            <a:ext cx="3291840" cy="822960"/>
          </a:xfrm>
          <a:prstGeom prst="rect">
            <a:avLst/>
          </a:prstGeom>
          <a:noFill/>
          <a:ln/>
        </p:spPr>
        <p:txBody>
          <a:bodyPr wrap="square" lIns="0" tIns="0" rIns="0" bIns="0" rtlCol="0" anchor="ctr"/>
          <a:lstStyle/>
          <a:p>
            <a:pPr indent="0" marL="0">
              <a:lnSpc>
                <a:spcPct val="125000"/>
              </a:lnSpc>
              <a:buNone/>
            </a:pPr>
            <a:r>
              <a:rPr lang="en-US" sz="1100" dirty="0">
                <a:solidFill>
                  <a:srgbClr val="4A4A6A"/>
                </a:solidFill>
                <a:latin typeface="Calibri" pitchFamily="34" charset="0"/>
                <a:ea typeface="Calibri" pitchFamily="34" charset="-122"/>
                <a:cs typeface="Calibri" pitchFamily="34" charset="-120"/>
              </a:rPr>
              <a:t>Users switch to chronological feed for one week and document changes they notice. Participatory format for firsthand experience.</a:t>
            </a:r>
            <a:endParaRPr lang="en-US" sz="1100" dirty="0"/>
          </a:p>
        </p:txBody>
      </p:sp>
      <p:sp>
        <p:nvSpPr>
          <p:cNvPr id="22" name="Shape 17"/>
          <p:cNvSpPr/>
          <p:nvPr/>
        </p:nvSpPr>
        <p:spPr>
          <a:xfrm>
            <a:off x="7086600" y="3794760"/>
            <a:ext cx="1371600" cy="411480"/>
          </a:xfrm>
          <a:prstGeom prst="roundRect">
            <a:avLst>
              <a:gd name="adj" fmla="val 17778"/>
            </a:avLst>
          </a:prstGeom>
          <a:solidFill>
            <a:srgbClr val="2A9D8F"/>
          </a:solidFill>
          <a:ln/>
        </p:spPr>
      </p:sp>
      <p:sp>
        <p:nvSpPr>
          <p:cNvPr id="23" name="Text 18"/>
          <p:cNvSpPr txBox="1"/>
          <p:nvPr/>
        </p:nvSpPr>
        <p:spPr>
          <a:xfrm>
            <a:off x="7086600" y="3794760"/>
            <a:ext cx="137160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Reels + Hashtag</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Be a Critical Consumer</a:t>
            </a:r>
            <a:endParaRPr lang="en-US" sz="3200" dirty="0"/>
          </a:p>
        </p:txBody>
      </p:sp>
      <p:sp>
        <p:nvSpPr>
          <p:cNvPr id="3" name="Text 1"/>
          <p:cNvSpPr txBox="1"/>
          <p:nvPr/>
        </p:nvSpPr>
        <p:spPr>
          <a:xfrm>
            <a:off x="548640" y="777240"/>
            <a:ext cx="8046720" cy="320040"/>
          </a:xfrm>
          <a:prstGeom prst="rect">
            <a:avLst/>
          </a:prstGeom>
          <a:noFill/>
          <a:ln/>
        </p:spPr>
        <p:txBody>
          <a:bodyPr wrap="square" lIns="0" tIns="0" rIns="0" bIns="0" rtlCol="0" anchor="ctr"/>
          <a:lstStyle/>
          <a:p>
            <a:pPr algn="l" indent="0" marL="0">
              <a:buNone/>
            </a:pPr>
            <a:r>
              <a:rPr lang="en-US" sz="1400" i="1" dirty="0">
                <a:solidFill>
                  <a:srgbClr val="E63946"/>
                </a:solidFill>
                <a:latin typeface="Calibri" pitchFamily="34" charset="0"/>
                <a:ea typeface="Calibri" pitchFamily="34" charset="-122"/>
                <a:cs typeface="Calibri" pitchFamily="34" charset="-120"/>
              </a:rPr>
              <a:t>Five actions you can take today</a:t>
            </a:r>
            <a:endParaRPr lang="en-US" sz="1400" dirty="0"/>
          </a:p>
        </p:txBody>
      </p:sp>
      <p:sp>
        <p:nvSpPr>
          <p:cNvPr id="4" name="Shape 2"/>
          <p:cNvSpPr/>
          <p:nvPr/>
        </p:nvSpPr>
        <p:spPr>
          <a:xfrm>
            <a:off x="548640" y="1207008"/>
            <a:ext cx="457200" cy="457200"/>
          </a:xfrm>
          <a:prstGeom prst="ellipse">
            <a:avLst/>
          </a:prstGeom>
          <a:solidFill>
            <a:srgbClr val="264653"/>
          </a:solidFill>
          <a:ln/>
        </p:spPr>
      </p:sp>
      <p:pic>
        <p:nvPicPr>
          <p:cNvPr id="5" name="Image 0" descr="preencoded.png">    </p:cNvPr>
          <p:cNvPicPr>
            <a:picLocks noChangeAspect="1"/>
          </p:cNvPicPr>
          <p:nvPr/>
        </p:nvPicPr>
        <p:blipFill>
          <a:blip r:embed="rId1"/>
          <a:stretch>
            <a:fillRect/>
          </a:stretch>
        </p:blipFill>
        <p:spPr>
          <a:xfrm>
            <a:off x="662940" y="1321308"/>
            <a:ext cx="228600" cy="228600"/>
          </a:xfrm>
          <a:prstGeom prst="rect">
            <a:avLst/>
          </a:prstGeom>
        </p:spPr>
      </p:pic>
      <p:sp>
        <p:nvSpPr>
          <p:cNvPr id="6" name="Text 3"/>
          <p:cNvSpPr txBox="1"/>
          <p:nvPr/>
        </p:nvSpPr>
        <p:spPr>
          <a:xfrm>
            <a:off x="1143000" y="1188720"/>
            <a:ext cx="4846320" cy="502920"/>
          </a:xfrm>
          <a:prstGeom prst="rect">
            <a:avLst/>
          </a:prstGeom>
          <a:noFill/>
          <a:ln/>
        </p:spPr>
        <p:txBody>
          <a:bodyPr wrap="square" lIns="0" tIns="0" rIns="0" bIns="0" rtlCol="0" anchor="ctr"/>
          <a:lstStyle/>
          <a:p>
            <a:pPr indent="0" marL="0">
              <a:buNone/>
            </a:pPr>
            <a:r>
              <a:rPr lang="en-US" sz="1300" b="1" dirty="0">
                <a:solidFill>
                  <a:srgbClr val="1B1B2F"/>
                </a:solidFill>
                <a:latin typeface="Calibri" pitchFamily="34" charset="0"/>
                <a:ea typeface="Calibri" pitchFamily="34" charset="-122"/>
                <a:cs typeface="Calibri" pitchFamily="34" charset="-120"/>
              </a:rPr>
              <a:t>Diversify Your Sources   </a:t>
            </a:r>
            <a:pPr indent="0" marL="0">
              <a:buNone/>
            </a:pPr>
            <a:r>
              <a:rPr lang="en-US" sz="1150" dirty="0">
                <a:solidFill>
                  <a:srgbClr val="4A4A6A"/>
                </a:solidFill>
                <a:latin typeface="Calibri" pitchFamily="34" charset="0"/>
                <a:ea typeface="Calibri" pitchFamily="34" charset="-122"/>
                <a:cs typeface="Calibri" pitchFamily="34" charset="-120"/>
              </a:rPr>
              <a:t>Follow accounts with different perspectives — step outside your comfort zone</a:t>
            </a:r>
            <a:endParaRPr lang="en-US" sz="1300" dirty="0"/>
          </a:p>
        </p:txBody>
      </p:sp>
      <p:sp>
        <p:nvSpPr>
          <p:cNvPr id="7" name="Shape 4"/>
          <p:cNvSpPr/>
          <p:nvPr/>
        </p:nvSpPr>
        <p:spPr>
          <a:xfrm>
            <a:off x="548640" y="1828800"/>
            <a:ext cx="457200" cy="457200"/>
          </a:xfrm>
          <a:prstGeom prst="ellipse">
            <a:avLst/>
          </a:prstGeom>
          <a:solidFill>
            <a:srgbClr val="E63946"/>
          </a:solidFill>
          <a:ln/>
        </p:spPr>
      </p:sp>
      <p:pic>
        <p:nvPicPr>
          <p:cNvPr id="8" name="Image 1" descr="preencoded.png">    </p:cNvPr>
          <p:cNvPicPr>
            <a:picLocks noChangeAspect="1"/>
          </p:cNvPicPr>
          <p:nvPr/>
        </p:nvPicPr>
        <p:blipFill>
          <a:blip r:embed="rId2"/>
          <a:stretch>
            <a:fillRect/>
          </a:stretch>
        </p:blipFill>
        <p:spPr>
          <a:xfrm>
            <a:off x="662940" y="1943100"/>
            <a:ext cx="228600" cy="228600"/>
          </a:xfrm>
          <a:prstGeom prst="rect">
            <a:avLst/>
          </a:prstGeom>
        </p:spPr>
      </p:pic>
      <p:sp>
        <p:nvSpPr>
          <p:cNvPr id="9" name="Text 5"/>
          <p:cNvSpPr txBox="1"/>
          <p:nvPr/>
        </p:nvSpPr>
        <p:spPr>
          <a:xfrm>
            <a:off x="1143000" y="1810512"/>
            <a:ext cx="4846320" cy="502920"/>
          </a:xfrm>
          <a:prstGeom prst="rect">
            <a:avLst/>
          </a:prstGeom>
          <a:noFill/>
          <a:ln/>
        </p:spPr>
        <p:txBody>
          <a:bodyPr wrap="square" lIns="0" tIns="0" rIns="0" bIns="0" rtlCol="0" anchor="ctr"/>
          <a:lstStyle/>
          <a:p>
            <a:pPr indent="0" marL="0">
              <a:buNone/>
            </a:pPr>
            <a:r>
              <a:rPr lang="en-US" sz="1300" b="1" dirty="0">
                <a:solidFill>
                  <a:srgbClr val="1B1B2F"/>
                </a:solidFill>
                <a:latin typeface="Calibri" pitchFamily="34" charset="0"/>
                <a:ea typeface="Calibri" pitchFamily="34" charset="-122"/>
                <a:cs typeface="Calibri" pitchFamily="34" charset="-120"/>
              </a:rPr>
              <a:t>Check Your Settings   </a:t>
            </a:r>
            <a:pPr indent="0" marL="0">
              <a:buNone/>
            </a:pPr>
            <a:r>
              <a:rPr lang="en-US" sz="1150" dirty="0">
                <a:solidFill>
                  <a:srgbClr val="4A4A6A"/>
                </a:solidFill>
                <a:latin typeface="Calibri" pitchFamily="34" charset="0"/>
                <a:ea typeface="Calibri" pitchFamily="34" charset="-122"/>
                <a:cs typeface="Calibri" pitchFamily="34" charset="-120"/>
              </a:rPr>
              <a:t>Most platforms offer chronological feed options — use them</a:t>
            </a:r>
            <a:endParaRPr lang="en-US" sz="1300" dirty="0"/>
          </a:p>
        </p:txBody>
      </p:sp>
      <p:sp>
        <p:nvSpPr>
          <p:cNvPr id="10" name="Shape 6"/>
          <p:cNvSpPr/>
          <p:nvPr/>
        </p:nvSpPr>
        <p:spPr>
          <a:xfrm>
            <a:off x="548640" y="2450592"/>
            <a:ext cx="457200" cy="457200"/>
          </a:xfrm>
          <a:prstGeom prst="ellipse">
            <a:avLst/>
          </a:prstGeom>
          <a:solidFill>
            <a:srgbClr val="2A9D8F"/>
          </a:solidFill>
          <a:ln/>
        </p:spPr>
      </p:sp>
      <p:pic>
        <p:nvPicPr>
          <p:cNvPr id="11" name="Image 2" descr="preencoded.png">    </p:cNvPr>
          <p:cNvPicPr>
            <a:picLocks noChangeAspect="1"/>
          </p:cNvPicPr>
          <p:nvPr/>
        </p:nvPicPr>
        <p:blipFill>
          <a:blip r:embed="rId3"/>
          <a:stretch>
            <a:fillRect/>
          </a:stretch>
        </p:blipFill>
        <p:spPr>
          <a:xfrm>
            <a:off x="662940" y="2564892"/>
            <a:ext cx="228600" cy="228600"/>
          </a:xfrm>
          <a:prstGeom prst="rect">
            <a:avLst/>
          </a:prstGeom>
        </p:spPr>
      </p:pic>
      <p:sp>
        <p:nvSpPr>
          <p:cNvPr id="12" name="Text 7"/>
          <p:cNvSpPr txBox="1"/>
          <p:nvPr/>
        </p:nvSpPr>
        <p:spPr>
          <a:xfrm>
            <a:off x="1143000" y="2432304"/>
            <a:ext cx="4846320" cy="502920"/>
          </a:xfrm>
          <a:prstGeom prst="rect">
            <a:avLst/>
          </a:prstGeom>
          <a:noFill/>
          <a:ln/>
        </p:spPr>
        <p:txBody>
          <a:bodyPr wrap="square" lIns="0" tIns="0" rIns="0" bIns="0" rtlCol="0" anchor="ctr"/>
          <a:lstStyle/>
          <a:p>
            <a:pPr indent="0" marL="0">
              <a:buNone/>
            </a:pPr>
            <a:r>
              <a:rPr lang="en-US" sz="1300" b="1" dirty="0">
                <a:solidFill>
                  <a:srgbClr val="1B1B2F"/>
                </a:solidFill>
                <a:latin typeface="Calibri" pitchFamily="34" charset="0"/>
                <a:ea typeface="Calibri" pitchFamily="34" charset="-122"/>
                <a:cs typeface="Calibri" pitchFamily="34" charset="-120"/>
              </a:rPr>
              <a:t>Engage Mindfully   </a:t>
            </a:r>
            <a:pPr indent="0" marL="0">
              <a:buNone/>
            </a:pPr>
            <a:r>
              <a:rPr lang="en-US" sz="1150" dirty="0">
                <a:solidFill>
                  <a:srgbClr val="4A4A6A"/>
                </a:solidFill>
                <a:latin typeface="Calibri" pitchFamily="34" charset="0"/>
                <a:ea typeface="Calibri" pitchFamily="34" charset="-122"/>
                <a:cs typeface="Calibri" pitchFamily="34" charset="-120"/>
              </a:rPr>
              <a:t>Every like and share trains the algorithm — be intentional</a:t>
            </a:r>
            <a:endParaRPr lang="en-US" sz="1300" dirty="0"/>
          </a:p>
        </p:txBody>
      </p:sp>
      <p:sp>
        <p:nvSpPr>
          <p:cNvPr id="13" name="Shape 8"/>
          <p:cNvSpPr/>
          <p:nvPr/>
        </p:nvSpPr>
        <p:spPr>
          <a:xfrm>
            <a:off x="548640" y="3072384"/>
            <a:ext cx="457200" cy="457200"/>
          </a:xfrm>
          <a:prstGeom prst="ellipse">
            <a:avLst/>
          </a:prstGeom>
          <a:solidFill>
            <a:srgbClr val="264653"/>
          </a:solidFill>
          <a:ln/>
        </p:spPr>
      </p:sp>
      <p:pic>
        <p:nvPicPr>
          <p:cNvPr id="14" name="Image 3" descr="preencoded.png">    </p:cNvPr>
          <p:cNvPicPr>
            <a:picLocks noChangeAspect="1"/>
          </p:cNvPicPr>
          <p:nvPr/>
        </p:nvPicPr>
        <p:blipFill>
          <a:blip r:embed="rId4"/>
          <a:stretch>
            <a:fillRect/>
          </a:stretch>
        </p:blipFill>
        <p:spPr>
          <a:xfrm>
            <a:off x="662940" y="3186684"/>
            <a:ext cx="228600" cy="228600"/>
          </a:xfrm>
          <a:prstGeom prst="rect">
            <a:avLst/>
          </a:prstGeom>
        </p:spPr>
      </p:pic>
      <p:sp>
        <p:nvSpPr>
          <p:cNvPr id="15" name="Text 9"/>
          <p:cNvSpPr txBox="1"/>
          <p:nvPr/>
        </p:nvSpPr>
        <p:spPr>
          <a:xfrm>
            <a:off x="1143000" y="3054096"/>
            <a:ext cx="4846320" cy="502920"/>
          </a:xfrm>
          <a:prstGeom prst="rect">
            <a:avLst/>
          </a:prstGeom>
          <a:noFill/>
          <a:ln/>
        </p:spPr>
        <p:txBody>
          <a:bodyPr wrap="square" lIns="0" tIns="0" rIns="0" bIns="0" rtlCol="0" anchor="ctr"/>
          <a:lstStyle/>
          <a:p>
            <a:pPr indent="0" marL="0">
              <a:buNone/>
            </a:pPr>
            <a:r>
              <a:rPr lang="en-US" sz="1300" b="1" dirty="0">
                <a:solidFill>
                  <a:srgbClr val="1B1B2F"/>
                </a:solidFill>
                <a:latin typeface="Calibri" pitchFamily="34" charset="0"/>
                <a:ea typeface="Calibri" pitchFamily="34" charset="-122"/>
                <a:cs typeface="Calibri" pitchFamily="34" charset="-120"/>
              </a:rPr>
              <a:t>Verify Before Sharing   </a:t>
            </a:r>
            <a:pPr indent="0" marL="0">
              <a:buNone/>
            </a:pPr>
            <a:r>
              <a:rPr lang="en-US" sz="1150" dirty="0">
                <a:solidFill>
                  <a:srgbClr val="4A4A6A"/>
                </a:solidFill>
                <a:latin typeface="Calibri" pitchFamily="34" charset="0"/>
                <a:ea typeface="Calibri" pitchFamily="34" charset="-122"/>
                <a:cs typeface="Calibri" pitchFamily="34" charset="-120"/>
              </a:rPr>
              <a:t>Check accuracy first — bias means sensational content reaches you first</a:t>
            </a:r>
            <a:endParaRPr lang="en-US" sz="1300" dirty="0"/>
          </a:p>
        </p:txBody>
      </p:sp>
      <p:sp>
        <p:nvSpPr>
          <p:cNvPr id="16" name="Shape 10"/>
          <p:cNvSpPr/>
          <p:nvPr/>
        </p:nvSpPr>
        <p:spPr>
          <a:xfrm>
            <a:off x="548640" y="3694176"/>
            <a:ext cx="457200" cy="457200"/>
          </a:xfrm>
          <a:prstGeom prst="ellipse">
            <a:avLst/>
          </a:prstGeom>
          <a:solidFill>
            <a:srgbClr val="E63946"/>
          </a:solidFill>
          <a:ln/>
        </p:spPr>
      </p:sp>
      <p:pic>
        <p:nvPicPr>
          <p:cNvPr id="17" name="Image 4" descr="preencoded.png">    </p:cNvPr>
          <p:cNvPicPr>
            <a:picLocks noChangeAspect="1"/>
          </p:cNvPicPr>
          <p:nvPr/>
        </p:nvPicPr>
        <p:blipFill>
          <a:blip r:embed="rId5"/>
          <a:stretch>
            <a:fillRect/>
          </a:stretch>
        </p:blipFill>
        <p:spPr>
          <a:xfrm>
            <a:off x="662940" y="3808476"/>
            <a:ext cx="228600" cy="228600"/>
          </a:xfrm>
          <a:prstGeom prst="rect">
            <a:avLst/>
          </a:prstGeom>
        </p:spPr>
      </p:pic>
      <p:sp>
        <p:nvSpPr>
          <p:cNvPr id="18" name="Text 11"/>
          <p:cNvSpPr txBox="1"/>
          <p:nvPr/>
        </p:nvSpPr>
        <p:spPr>
          <a:xfrm>
            <a:off x="1143000" y="3675888"/>
            <a:ext cx="4846320" cy="502920"/>
          </a:xfrm>
          <a:prstGeom prst="rect">
            <a:avLst/>
          </a:prstGeom>
          <a:noFill/>
          <a:ln/>
        </p:spPr>
        <p:txBody>
          <a:bodyPr wrap="square" lIns="0" tIns="0" rIns="0" bIns="0" rtlCol="0" anchor="ctr"/>
          <a:lstStyle/>
          <a:p>
            <a:pPr indent="0" marL="0">
              <a:buNone/>
            </a:pPr>
            <a:r>
              <a:rPr lang="en-US" sz="1300" b="1" dirty="0">
                <a:solidFill>
                  <a:srgbClr val="1B1B2F"/>
                </a:solidFill>
                <a:latin typeface="Calibri" pitchFamily="34" charset="0"/>
                <a:ea typeface="Calibri" pitchFamily="34" charset="-122"/>
                <a:cs typeface="Calibri" pitchFamily="34" charset="-120"/>
              </a:rPr>
              <a:t>Spread Awareness   </a:t>
            </a:r>
            <a:pPr indent="0" marL="0">
              <a:buNone/>
            </a:pPr>
            <a:r>
              <a:rPr lang="en-US" sz="1150" dirty="0">
                <a:solidFill>
                  <a:srgbClr val="4A4A6A"/>
                </a:solidFill>
                <a:latin typeface="Calibri" pitchFamily="34" charset="0"/>
                <a:ea typeface="Calibri" pitchFamily="34" charset="-122"/>
                <a:cs typeface="Calibri" pitchFamily="34" charset="-120"/>
              </a:rPr>
              <a:t>Share what you've learned — understanding weakens biased systems</a:t>
            </a:r>
            <a:endParaRPr lang="en-US" sz="1300" dirty="0"/>
          </a:p>
        </p:txBody>
      </p:sp>
      <p:sp>
        <p:nvSpPr>
          <p:cNvPr id="19" name="Shape 12"/>
          <p:cNvSpPr/>
          <p:nvPr/>
        </p:nvSpPr>
        <p:spPr>
          <a:xfrm>
            <a:off x="6309360" y="1188720"/>
            <a:ext cx="2468880" cy="2834640"/>
          </a:xfrm>
          <a:prstGeom prst="roundRect">
            <a:avLst>
              <a:gd name="adj" fmla="val 5556"/>
            </a:avLst>
          </a:prstGeom>
          <a:solidFill>
            <a:srgbClr val="1B1B2F"/>
          </a:solidFill>
          <a:ln/>
        </p:spPr>
      </p:sp>
      <p:sp>
        <p:nvSpPr>
          <p:cNvPr id="20" name="Shape 13"/>
          <p:cNvSpPr/>
          <p:nvPr/>
        </p:nvSpPr>
        <p:spPr>
          <a:xfrm>
            <a:off x="6949440" y="1417320"/>
            <a:ext cx="731520" cy="731520"/>
          </a:xfrm>
          <a:prstGeom prst="ellipse">
            <a:avLst/>
          </a:prstGeom>
          <a:solidFill>
            <a:srgbClr val="E63946"/>
          </a:solidFill>
          <a:ln/>
        </p:spPr>
      </p:sp>
      <p:pic>
        <p:nvPicPr>
          <p:cNvPr id="21" name="Image 5" descr="preencoded.png">    </p:cNvPr>
          <p:cNvPicPr>
            <a:picLocks noChangeAspect="1"/>
          </p:cNvPicPr>
          <p:nvPr/>
        </p:nvPicPr>
        <p:blipFill>
          <a:blip r:embed="rId6"/>
          <a:stretch>
            <a:fillRect/>
          </a:stretch>
        </p:blipFill>
        <p:spPr>
          <a:xfrm>
            <a:off x="7132320" y="1600200"/>
            <a:ext cx="365760" cy="365760"/>
          </a:xfrm>
          <a:prstGeom prst="rect">
            <a:avLst/>
          </a:prstGeom>
        </p:spPr>
      </p:pic>
      <p:sp>
        <p:nvSpPr>
          <p:cNvPr id="22" name="Text 14"/>
          <p:cNvSpPr txBox="1"/>
          <p:nvPr/>
        </p:nvSpPr>
        <p:spPr>
          <a:xfrm>
            <a:off x="6492240" y="2286000"/>
            <a:ext cx="2103120" cy="1554480"/>
          </a:xfrm>
          <a:prstGeom prst="rect">
            <a:avLst/>
          </a:prstGeom>
          <a:noFill/>
          <a:ln/>
        </p:spPr>
        <p:txBody>
          <a:bodyPr wrap="square" lIns="0" tIns="0" rIns="0" bIns="0" rtlCol="0" anchor="t"/>
          <a:lstStyle/>
          <a:p>
            <a:pPr algn="ctr" indent="0" marL="0">
              <a:lnSpc>
                <a:spcPct val="140000"/>
              </a:lnSpc>
              <a:buNone/>
            </a:pPr>
            <a:r>
              <a:rPr lang="en-US" sz="1300" dirty="0">
                <a:solidFill>
                  <a:srgbClr val="FFFFFF"/>
                </a:solidFill>
                <a:latin typeface="Calibri" pitchFamily="34" charset="0"/>
                <a:ea typeface="Calibri" pitchFamily="34" charset="-122"/>
                <a:cs typeface="Calibri" pitchFamily="34" charset="-120"/>
              </a:rPr>
              <a:t>Your feed is not reality.</a:t>
            </a:r>
            <a:endParaRPr lang="en-US" sz="1300" dirty="0"/>
          </a:p>
          <a:p>
            <a:pPr algn="ctr" indent="0" marL="0">
              <a:lnSpc>
                <a:spcPct val="140000"/>
              </a:lnSpc>
              <a:buNone/>
            </a:pPr>
            <a:endParaRPr lang="en-US" sz="1300" dirty="0"/>
          </a:p>
          <a:p>
            <a:pPr algn="ctr" indent="0" marL="0">
              <a:lnSpc>
                <a:spcPct val="140000"/>
              </a:lnSpc>
              <a:buNone/>
            </a:pPr>
            <a:r>
              <a:rPr lang="en-US" sz="1300" dirty="0">
                <a:solidFill>
                  <a:srgbClr val="FFFFFF"/>
                </a:solidFill>
                <a:latin typeface="Calibri" pitchFamily="34" charset="0"/>
                <a:ea typeface="Calibri" pitchFamily="34" charset="-122"/>
                <a:cs typeface="Calibri" pitchFamily="34" charset="-120"/>
              </a:rPr>
              <a:t>It's a curated selection designed to keep you engaged.</a:t>
            </a:r>
            <a:endParaRPr lang="en-US" sz="1300" dirty="0"/>
          </a:p>
          <a:p>
            <a:pPr algn="ctr" indent="0" marL="0">
              <a:lnSpc>
                <a:spcPct val="140000"/>
              </a:lnSpc>
              <a:buNone/>
            </a:pPr>
            <a:endParaRPr lang="en-US" sz="1300" dirty="0"/>
          </a:p>
          <a:p>
            <a:pPr algn="ctr" indent="0" marL="0">
              <a:lnSpc>
                <a:spcPct val="140000"/>
              </a:lnSpc>
              <a:buNone/>
            </a:pPr>
            <a:r>
              <a:rPr lang="en-US" sz="1300" dirty="0">
                <a:solidFill>
                  <a:srgbClr val="FFFFFF"/>
                </a:solidFill>
                <a:latin typeface="Calibri" pitchFamily="34" charset="0"/>
                <a:ea typeface="Calibri" pitchFamily="34" charset="-122"/>
                <a:cs typeface="Calibri" pitchFamily="34" charset="-120"/>
              </a:rPr>
              <a:t>Question it.</a:t>
            </a:r>
            <a:endParaRPr lang="en-US" sz="1300" dirty="0"/>
          </a:p>
        </p:txBody>
      </p:sp>
      <p:sp>
        <p:nvSpPr>
          <p:cNvPr id="23" name="Text 15"/>
          <p:cNvSpPr txBox="1"/>
          <p:nvPr/>
        </p:nvSpPr>
        <p:spPr>
          <a:xfrm>
            <a:off x="548640" y="4434840"/>
            <a:ext cx="8046720" cy="365760"/>
          </a:xfrm>
          <a:prstGeom prst="rect">
            <a:avLst/>
          </a:prstGeom>
          <a:noFill/>
          <a:ln/>
        </p:spPr>
        <p:txBody>
          <a:bodyPr wrap="square" lIns="0" tIns="0" rIns="0" bIns="0" rtlCol="0" anchor="ctr"/>
          <a:lstStyle/>
          <a:p>
            <a:pPr algn="ctr" indent="0" marL="0">
              <a:buNone/>
            </a:pPr>
            <a:r>
              <a:rPr lang="en-US" sz="1600" b="1" dirty="0">
                <a:solidFill>
                  <a:srgbClr val="264653"/>
                </a:solidFill>
                <a:latin typeface="Cambria" pitchFamily="34" charset="0"/>
                <a:ea typeface="Cambria" pitchFamily="34" charset="-122"/>
                <a:cs typeface="Cambria" pitchFamily="34" charset="-120"/>
              </a:rPr>
              <a:t>Thank you for your attention — Questions?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algn="l" indent="0" marL="0">
              <a:buNone/>
            </a:pPr>
            <a:r>
              <a:rPr lang="en-US" sz="3200" b="1" dirty="0">
                <a:solidFill>
                  <a:srgbClr val="1B1B2F"/>
                </a:solidFill>
                <a:latin typeface="Cambria" pitchFamily="34" charset="0"/>
                <a:ea typeface="Cambria" pitchFamily="34" charset="-122"/>
                <a:cs typeface="Cambria" pitchFamily="34" charset="-120"/>
              </a:rPr>
              <a:t>References</a:t>
            </a:r>
            <a:endParaRPr lang="en-US" sz="3200" dirty="0"/>
          </a:p>
        </p:txBody>
      </p:sp>
      <p:sp>
        <p:nvSpPr>
          <p:cNvPr id="3" name="Shape 1"/>
          <p:cNvSpPr/>
          <p:nvPr/>
        </p:nvSpPr>
        <p:spPr>
          <a:xfrm>
            <a:off x="548640" y="960120"/>
            <a:ext cx="502920" cy="502920"/>
          </a:xfrm>
          <a:prstGeom prst="ellipse">
            <a:avLst/>
          </a:prstGeom>
          <a:solidFill>
            <a:srgbClr val="264653"/>
          </a:solidFill>
          <a:ln/>
        </p:spPr>
      </p:sp>
      <p:pic>
        <p:nvPicPr>
          <p:cNvPr id="4" name="Image 0" descr="preencoded.png">    </p:cNvPr>
          <p:cNvPicPr>
            <a:picLocks noChangeAspect="1"/>
          </p:cNvPicPr>
          <p:nvPr/>
        </p:nvPicPr>
        <p:blipFill>
          <a:blip r:embed="rId1"/>
          <a:stretch>
            <a:fillRect/>
          </a:stretch>
        </p:blipFill>
        <p:spPr>
          <a:xfrm>
            <a:off x="674370" y="1085850"/>
            <a:ext cx="251460" cy="251460"/>
          </a:xfrm>
          <a:prstGeom prst="rect">
            <a:avLst/>
          </a:prstGeom>
        </p:spPr>
      </p:pic>
      <p:sp>
        <p:nvSpPr>
          <p:cNvPr id="5" name="Text 2"/>
          <p:cNvSpPr txBox="1"/>
          <p:nvPr/>
        </p:nvSpPr>
        <p:spPr>
          <a:xfrm>
            <a:off x="1188720" y="960120"/>
            <a:ext cx="7315200" cy="3657600"/>
          </a:xfrm>
          <a:prstGeom prst="rect">
            <a:avLst/>
          </a:prstGeom>
          <a:noFill/>
          <a:ln/>
        </p:spPr>
        <p:txBody>
          <a:bodyPr wrap="square" lIns="0" tIns="0" rIns="0" bIns="0" rtlCol="0" anchor="t"/>
          <a:lstStyle/>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1.  Pariser, E. (2011). The Filter Bubble: How the New Personalized Web Is Changing What We Read and How We Think. Penguin Books.</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2.  Noble, S. U. (2018). Algorithms of Oppression: How Search Engines Reinforce Racism. NYU Press.</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3.  O'Neil, C. (2016). Weapons of Math Destruction: How Big Data Increases Inequality and Threatens Democracy. Crown.</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4.  Vosoughi, S., Roy, D., &amp; Aral, S. (2018). The spread of true and false news online. Science, 359(6380), 1146–1151.</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5.  Horwitz, J. &amp; Seetharaman, D. (2021). Facebook Knows Instagram Is Toxic for Teen Girls, Company Documents Show. The Wall Street Journal.</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6.  Pew Research Center (2024). Social Media Use in 2024. Pew Research Center.</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7.  Meta Transparency Center (2023). How Feed Works. Meta Platforms, Inc.</a:t>
            </a:r>
            <a:endParaRPr lang="en-US" sz="1050" dirty="0"/>
          </a:p>
          <a:p>
            <a:pPr indent="0" marL="0">
              <a:lnSpc>
                <a:spcPct val="130000"/>
              </a:lnSpc>
              <a:spcAft>
                <a:spcPts val="800"/>
              </a:spcAft>
              <a:buNone/>
            </a:pPr>
            <a:r>
              <a:rPr lang="en-US" sz="1050" dirty="0">
                <a:solidFill>
                  <a:srgbClr val="4A4A6A"/>
                </a:solidFill>
                <a:latin typeface="Calibri" pitchFamily="34" charset="0"/>
                <a:ea typeface="Calibri" pitchFamily="34" charset="-122"/>
                <a:cs typeface="Calibri" pitchFamily="34" charset="-120"/>
              </a:rPr>
              <a:t>8.  Bakshy, E., Messing, S., &amp; Adamic, L. A. (2015). Exposure to ideologically diverse news and opinion on Facebook. Science, 348(6239), 1130–1132.</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lgorithmAudit">
  <a:themeElements>
    <a:clrScheme name="AlgorithmAudit">
      <a:dk1>
        <a:srgbClr val="1B1B2F"/>
      </a:dk1>
      <a:lt1>
        <a:srgbClr val="FFFFFF"/>
      </a:lt1>
      <a:dk2>
        <a:srgbClr val="4A4A6A"/>
      </a:dk2>
      <a:lt2>
        <a:srgbClr val="F0F0F5"/>
      </a:lt2>
      <a:accent1>
        <a:srgbClr val="E63946"/>
      </a:accent1>
      <a:accent2>
        <a:srgbClr val="264653"/>
      </a:accent2>
      <a:accent3>
        <a:srgbClr val="2A9D8F"/>
      </a:accent3>
      <a:accent4>
        <a:srgbClr val="E9C46A"/>
      </a:accent4>
      <a:accent5>
        <a:srgbClr val="F4A261"/>
      </a:accent5>
      <a:accent6>
        <a:srgbClr val="606090"/>
      </a:accent6>
      <a:hlink>
        <a:srgbClr val="E63946"/>
      </a:hlink>
      <a:folHlink>
        <a:srgbClr val="264653"/>
      </a:folHlink>
    </a:clrScheme>
    <a:fontScheme name="Algorithm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Algorithmic Audit and Awareness Campaign</dc:title>
  <dc:subject>Algorithmic Audit and Awareness Campaign</dc:subject>
  <dc:creator>Group Assignment</dc:creator>
  <cp:lastModifiedBy>Group Assignment</cp:lastModifiedBy>
  <cp:revision>1</cp:revision>
  <dcterms:created xsi:type="dcterms:W3CDTF">2026-10-14T06:07:25Z</dcterms:created>
  <dcterms:modified xsi:type="dcterms:W3CDTF">2026-10-14T06:07:25Z</dcterms:modified>
</cp:coreProperties>
</file>